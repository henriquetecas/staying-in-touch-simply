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1d2b869-4f3e-fb1b-3b43-39c928b1b304}">
          <p14:sldIdLst>
            <p14:sldId id="256"/>
            <p14:sldId id="257"/>
          </p14:sldIdLst>
        </p14:section>
        <p14:section name="Problem framing" id="{2b357017-4d3d-7e0a-d922-4298ba490929}">
          <p14:sldIdLst>
            <p14:sldId id="258"/>
            <p14:sldId id="259"/>
          </p14:sldIdLst>
        </p14:section>
        <p14:section name="Sessions" id="{2c5e8a71-14dc-a253-3588-a590dcbcc771}">
          <p14:sldIdLst>
            <p14:sldId id="260"/>
            <p14:sldId id="261"/>
            <p14:sldId id="262"/>
            <p14:sldId id="263"/>
            <p14:sldId id="264"/>
          </p14:sldIdLst>
        </p14:section>
        <p14:section name="Next steps" id="{ede95c5e-d31d-f324-6283-5f19e93f1e0d}">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(0:15). Hi, I'm Henrique, and this is João. Our project is Staying in touch, simply: we're co-designing, with an older adult, a way for him to use the smartphone his family gave him.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(0:20). We follow the Double Diamond. In session one we explored and defined the problem with him; in session two he developed the ideas with us. Next we build the prototype, and session three tests it with him by October 16th.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(0:40). This is Manuel, a pseudonym. He's eighty and lives alone in Lisbon. In July his daughter bought him a smartphone so he could join the family WhatsApp group, where the photos of his newborn great-grandson are. He doesn't know how to work it: his taps are too short, gestures do the opposite of what he expects, and the keyboard opens by accident. So it sits uncharged in a drawer. In his words: “They already got it. They did not get me a way to work it.” He corrected our problem statement twice before signing it. [Hand over: “João.”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(0:30). Manuel isn't alone. Portugal has the second-oldest population in the EU: 24.3 percent of people are 65 or older. Among 65- to 74-year-olds, 36 percent have never used the internet, more than twice the EU share, and over half a million older people live alone. Current options don't fit him: minimal phones drop WhatsApp, simplified modes leave it in its usual design, and Alexa and Google don't speak European Portuguese.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(0:30). Session one took about seventy minutes in his kitchen. We used directed storytelling, a tour of both his phones, and a communication map. We adapted to him: before any question he made us play bisca, and he beat us. We read the consent form aloud in plain Portuguese, only one of us asked at a time, and he placed every dot on the map himself.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(0:35). Four things we learned, in his words. The smartphone confuses him: when a pinch shrank the text, he said “I broke the letters.” But he won't refuse it like his sister did, “because the refusal includes the baby.” The family's news lives in the group: he went to a blood test at the wrong hour because the change was only written there. And after an “olá pai” scam text, he wants the sender's name before anything else. [Hand over: “Henrique.”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(0:30). In session two, he decided what it should be. We gave him sixteen cards, each one a smartphone feature. He kept the ones about his family: today's photo, messages read aloud, knowing a scam, calls, and short spoken replies. He also wrote two cards of his own: the name before the photo, and only people his daughter saved. He threw out the torch, the weather and the radio. As he put it: “Do not get confused and build me a nicer Nokia.”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(0:35). Then he tried three empty 3D-printed shapes: at his ear, flat on the table, in his pocket. (Hold up the full cover.) He rejected the bumper because all the icons were still there to confuse him: “My finger is disloyal.” He rejected the box as “a third phone.” He chose the full cover. It keeps his own smartphone, with everything it can do, but shows one thing at a time: “This. I see one thing.” A green button to talk, where his thumb rests, and a red one to end. [Hand over: “João played the phone's voice. João?”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(0:30). In a role-play I was the phone's voice while he pressed a cardboard button. He corrected me straight away: no greeting. Say the name first, then one sentence, then stay quiet while he looks. Unknown senders never get a photo. And after two misunderstandings I should do nothing: “Rude and safe. I prefer that to cheerful and wrong.” His storyboard is the morning his great-grandson's photo arrives, and he answers: ele é lindo, he's beautiful. [Hand over: “Henrique.”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Henrique (0:35). Three lessons. Letting him host a game first put him in charge. He needed things to refuse, so decoy and blank cards made his choices clear. And we were wrong about one button: without a red one to end, calls aren't safe for him. What he wants isn't a simpler phone, but his smartphone's family features in a form he can use. Next we build it, test it with him by the sixteenth, and he may join our final presentation. Thank you. [Pause,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76656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063240"/>
            <a:ext cx="6766560" cy="8229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Staying in touch, simply · Mid-term · Week of 5 October 2026</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766560" cy="1371600"/>
          </a:xfrm>
          <a:prstGeom prst="rect">
            <a:avLst/>
          </a:prstGeom>
          <a:noFill/>
          <a:ln/>
        </p:spPr>
        <p:txBody>
          <a:bodyPr wrap="square" lIns="0" tIns="0" rIns="0" bIns="0" rtlCol="0" anchor="b"/>
          <a:lstStyle/>
          <a:p>
            <a:pPr algn="l" indent="0" marL="0">
              <a:buNone/>
            </a:pPr>
            <a:r>
              <a:rPr lang="en-US" sz="4800" b="1" dirty="0">
                <a:solidFill>
                  <a:schemeClr val="bg1"/>
                </a:solidFill>
              </a:rPr>
              <a:t>Staying in touch, simply</a:t>
            </a:r>
            <a:endParaRPr lang="en-US" sz="4800" dirty="0"/>
          </a:p>
        </p:txBody>
      </p:sp>
      <p:sp>
        <p:nvSpPr>
          <p:cNvPr id="3" name="Text 0"/>
          <p:cNvSpPr/>
          <p:nvPr>
            <p:ph idx="101" type="body" hasCustomPrompt="1"/>
          </p:nvPr>
        </p:nvSpPr>
        <p:spPr>
          <a:xfrm>
            <a:off x="731520" y="3063240"/>
            <a:ext cx="6766560" cy="822960"/>
          </a:xfrm>
          <a:prstGeom prst="rect">
            <a:avLst/>
          </a:prstGeom>
          <a:noFill/>
          <a:ln/>
        </p:spPr>
        <p:txBody>
          <a:bodyPr wrap="square" lIns="0" tIns="0" rIns="0" bIns="0" rtlCol="0" anchor="t"/>
          <a:lstStyle/>
          <a:p>
            <a:pPr indent="0" marL="0">
              <a:buNone/>
            </a:pPr>
            <a:r>
              <a:rPr lang="en-US" sz="2200" dirty="0">
                <a:solidFill>
                  <a:schemeClr val="bg2"/>
                </a:solidFill>
              </a:rPr>
              <a:t>Co-designing a way for an older adult to use his smartphone</a:t>
            </a:r>
            <a:endParaRPr lang="en-US" sz="2200" dirty="0"/>
          </a:p>
        </p:txBody>
      </p:sp>
      <p:sp>
        <p:nvSpPr>
          <p:cNvPr id="4" name="Meta"/>
          <p:cNvSpPr txBox="1"/>
          <p:nvPr/>
        </p:nvSpPr>
        <p:spPr>
          <a:xfrm>
            <a:off x="731520" y="4160520"/>
            <a:ext cx="6766560" cy="365760"/>
          </a:xfrm>
          <a:prstGeom prst="rect">
            <a:avLst/>
          </a:prstGeom>
          <a:noFill/>
          <a:ln/>
        </p:spPr>
        <p:txBody>
          <a:bodyPr wrap="square" lIns="0" tIns="0" rIns="0" bIns="0" rtlCol="0" anchor="ctr"/>
          <a:lstStyle/>
          <a:p>
            <a:pPr indent="0" marL="0">
              <a:buNone/>
            </a:pPr>
            <a:r>
              <a:rPr lang="en-US" sz="1500" dirty="0">
                <a:solidFill>
                  <a:schemeClr val="accent6"/>
                </a:solidFill>
              </a:rPr>
              <a:t>Mid-term presentation · Co-Designing Inclusive Technologies · Week of 5 October 2026</a:t>
            </a:r>
            <a:endParaRPr lang="en-US" sz="1500" dirty="0"/>
          </a:p>
        </p:txBody>
      </p:sp>
      <p:sp>
        <p:nvSpPr>
          <p:cNvPr id="5" name="Team"/>
          <p:cNvSpPr txBox="1"/>
          <p:nvPr/>
        </p:nvSpPr>
        <p:spPr>
          <a:xfrm>
            <a:off x="731520" y="4617720"/>
            <a:ext cx="6766560" cy="365760"/>
          </a:xfrm>
          <a:prstGeom prst="rect">
            <a:avLst/>
          </a:prstGeom>
          <a:noFill/>
          <a:ln/>
        </p:spPr>
        <p:txBody>
          <a:bodyPr wrap="square" lIns="0" tIns="0" rIns="0" bIns="0" rtlCol="0" anchor="ctr"/>
          <a:lstStyle/>
          <a:p>
            <a:pPr indent="0" marL="0">
              <a:buNone/>
            </a:pPr>
            <a:r>
              <a:rPr lang="en-US" sz="1600" dirty="0">
                <a:solidFill>
                  <a:schemeClr val="bg1"/>
                </a:solidFill>
              </a:rPr>
              <a:t>Henrique Rodrigues · João Rocha</a:t>
            </a:r>
            <a:endParaRPr lang="en-US" sz="1600" dirty="0"/>
          </a:p>
        </p:txBody>
      </p:sp>
      <p:sp>
        <p:nvSpPr>
          <p:cNvPr id="6" name="Big button"/>
          <p:cNvSpPr/>
          <p:nvPr/>
        </p:nvSpPr>
        <p:spPr>
          <a:xfrm>
            <a:off x="8001000" y="1600200"/>
            <a:ext cx="3657600" cy="3657600"/>
          </a:xfrm>
          <a:prstGeom prst="ellipse">
            <a:avLst/>
          </a:prstGeom>
          <a:solidFill>
            <a:schemeClr val="accent1"/>
          </a:solidFill>
          <a:ln w="12700">
            <a:solidFill>
              <a:schemeClr val="accent1"/>
            </a:solidFill>
            <a:prstDash val="solid"/>
          </a:ln>
        </p:spPr>
      </p:sp>
      <p:sp>
        <p:nvSpPr>
          <p:cNvPr id="7" name="Button ring"/>
          <p:cNvSpPr/>
          <p:nvPr/>
        </p:nvSpPr>
        <p:spPr>
          <a:xfrm>
            <a:off x="8321040" y="1920240"/>
            <a:ext cx="3017520" cy="3017520"/>
          </a:xfrm>
          <a:prstGeom prst="ellipse">
            <a:avLst/>
          </a:prstGeom>
          <a:ln w="31750">
            <a:solidFill>
              <a:schemeClr val="bg1">
                <a:alpha val="45000"/>
              </a:schemeClr>
            </a:solidFill>
            <a:prstDash val="solid"/>
          </a:ln>
        </p:spPr>
      </p:sp>
      <p:pic>
        <p:nvPicPr>
          <p:cNvPr id="8" name="Phone icon" descr="Phone handset">    </p:cNvPr>
          <p:cNvPicPr>
            <a:picLocks noChangeAspect="1"/>
          </p:cNvPicPr>
          <p:nvPr/>
        </p:nvPicPr>
        <p:blipFill>
          <a:blip r:embed="rId1"/>
          <a:stretch>
            <a:fillRect/>
          </a:stretch>
        </p:blipFill>
        <p:spPr>
          <a:xfrm>
            <a:off x="9144000" y="27432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Where we are: two sessions done, one to go</a:t>
            </a:r>
            <a:endParaRPr lang="en-US" sz="3200" dirty="0"/>
          </a:p>
        </p:txBody>
      </p:sp>
      <p:sp>
        <p:nvSpPr>
          <p:cNvPr id="3" name="Diamond 1"/>
          <p:cNvSpPr/>
          <p:nvPr/>
        </p:nvSpPr>
        <p:spPr>
          <a:xfrm>
            <a:off x="1508760" y="1508760"/>
            <a:ext cx="4572000" cy="2377440"/>
          </a:xfrm>
          <a:prstGeom prst="diamond">
            <a:avLst/>
          </a:prstGeom>
          <a:solidFill>
            <a:schemeClr val="bg2"/>
          </a:solidFill>
          <a:ln w="25400">
            <a:solidFill>
              <a:schemeClr val="accent1"/>
            </a:solidFill>
            <a:prstDash val="solid"/>
          </a:ln>
        </p:spPr>
      </p:sp>
      <p:sp>
        <p:nvSpPr>
          <p:cNvPr id="4" name="Diamond 2"/>
          <p:cNvSpPr/>
          <p:nvPr/>
        </p:nvSpPr>
        <p:spPr>
          <a:xfrm>
            <a:off x="6080760" y="1508760"/>
            <a:ext cx="4572000" cy="2377440"/>
          </a:xfrm>
          <a:prstGeom prst="diamond">
            <a:avLst/>
          </a:prstGeom>
          <a:solidFill>
            <a:schemeClr val="bg2"/>
          </a:solidFill>
          <a:ln w="25400">
            <a:solidFill>
              <a:schemeClr val="accent1"/>
            </a:solidFill>
            <a:prstDash val="solid"/>
          </a:ln>
        </p:spPr>
      </p:sp>
      <p:sp>
        <p:nvSpPr>
          <p:cNvPr id="5" name="Divider 1"/>
          <p:cNvSpPr/>
          <p:nvPr/>
        </p:nvSpPr>
        <p:spPr>
          <a:xfrm>
            <a:off x="3794760" y="1508760"/>
            <a:ext cx="0" cy="2377440"/>
          </a:xfrm>
          <a:prstGeom prst="line">
            <a:avLst/>
          </a:prstGeom>
          <a:noFill/>
          <a:ln w="12700">
            <a:solidFill>
              <a:schemeClr val="accent5"/>
            </a:solidFill>
            <a:prstDash val="dash"/>
          </a:ln>
        </p:spPr>
      </p:sp>
      <p:sp>
        <p:nvSpPr>
          <p:cNvPr id="6" name="Divider 2"/>
          <p:cNvSpPr/>
          <p:nvPr/>
        </p:nvSpPr>
        <p:spPr>
          <a:xfrm>
            <a:off x="8366760" y="1508760"/>
            <a:ext cx="0" cy="2377440"/>
          </a:xfrm>
          <a:prstGeom prst="line">
            <a:avLst/>
          </a:prstGeom>
          <a:noFill/>
          <a:ln w="12700">
            <a:solidFill>
              <a:schemeClr val="accent5"/>
            </a:solidFill>
            <a:prstDash val="dash"/>
          </a:ln>
        </p:spPr>
      </p:sp>
      <p:sp>
        <p:nvSpPr>
          <p:cNvPr id="7" name="Discover label"/>
          <p:cNvSpPr txBox="1"/>
          <p:nvPr/>
        </p:nvSpPr>
        <p:spPr>
          <a:xfrm>
            <a:off x="2057400" y="24688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rPr>
              <a:t>Discover</a:t>
            </a:r>
            <a:endParaRPr lang="en-US" sz="1800" dirty="0"/>
          </a:p>
        </p:txBody>
      </p:sp>
      <p:sp>
        <p:nvSpPr>
          <p:cNvPr id="8" name="Define label"/>
          <p:cNvSpPr txBox="1"/>
          <p:nvPr/>
        </p:nvSpPr>
        <p:spPr>
          <a:xfrm>
            <a:off x="3886200" y="24688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rPr>
              <a:t>Define</a:t>
            </a:r>
            <a:endParaRPr lang="en-US" sz="1800" dirty="0"/>
          </a:p>
        </p:txBody>
      </p:sp>
      <p:sp>
        <p:nvSpPr>
          <p:cNvPr id="9" name="Develop label"/>
          <p:cNvSpPr txBox="1"/>
          <p:nvPr/>
        </p:nvSpPr>
        <p:spPr>
          <a:xfrm>
            <a:off x="6629400" y="24688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rPr>
              <a:t>Develop</a:t>
            </a:r>
            <a:endParaRPr lang="en-US" sz="1800" dirty="0"/>
          </a:p>
        </p:txBody>
      </p:sp>
      <p:sp>
        <p:nvSpPr>
          <p:cNvPr id="10" name="Deliver label"/>
          <p:cNvSpPr txBox="1"/>
          <p:nvPr/>
        </p:nvSpPr>
        <p:spPr>
          <a:xfrm>
            <a:off x="8458200" y="24688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rPr>
              <a:t>Deliver</a:t>
            </a:r>
            <a:endParaRPr lang="en-US" sz="1800" dirty="0"/>
          </a:p>
        </p:txBody>
      </p:sp>
      <p:sp>
        <p:nvSpPr>
          <p:cNvPr id="11" name="Session 1 · done span"/>
          <p:cNvSpPr/>
          <p:nvPr/>
        </p:nvSpPr>
        <p:spPr>
          <a:xfrm>
            <a:off x="1783080" y="4343400"/>
            <a:ext cx="4023360" cy="0"/>
          </a:xfrm>
          <a:prstGeom prst="line">
            <a:avLst/>
          </a:prstGeom>
          <a:noFill/>
          <a:ln w="25400">
            <a:solidFill>
              <a:schemeClr val="accent6"/>
            </a:solidFill>
            <a:prstDash val="solid"/>
          </a:ln>
        </p:spPr>
      </p:sp>
      <p:sp>
        <p:nvSpPr>
          <p:cNvPr id="12" name="Session 1 · done circle"/>
          <p:cNvSpPr/>
          <p:nvPr/>
        </p:nvSpPr>
        <p:spPr>
          <a:xfrm>
            <a:off x="3566160" y="4114800"/>
            <a:ext cx="457200" cy="457200"/>
          </a:xfrm>
          <a:prstGeom prst="ellipse">
            <a:avLst/>
          </a:prstGeom>
          <a:solidFill>
            <a:schemeClr val="accent1"/>
          </a:solidFill>
          <a:ln w="12700">
            <a:solidFill>
              <a:schemeClr val="accent1"/>
            </a:solidFill>
            <a:prstDash val="solid"/>
          </a:ln>
        </p:spPr>
      </p:sp>
      <p:pic>
        <p:nvPicPr>
          <p:cNvPr id="13" name="Session 1 · done icon" descr="Session 1 · done">    </p:cNvPr>
          <p:cNvPicPr>
            <a:picLocks noChangeAspect="1"/>
          </p:cNvPicPr>
          <p:nvPr/>
        </p:nvPicPr>
        <p:blipFill>
          <a:blip r:embed="rId1"/>
          <a:stretch>
            <a:fillRect/>
          </a:stretch>
        </p:blipFill>
        <p:spPr>
          <a:xfrm>
            <a:off x="3685032" y="4233672"/>
            <a:ext cx="219456" cy="219456"/>
          </a:xfrm>
          <a:prstGeom prst="rect">
            <a:avLst/>
          </a:prstGeom>
        </p:spPr>
      </p:pic>
      <p:sp>
        <p:nvSpPr>
          <p:cNvPr id="14" name="Session 1 · done name"/>
          <p:cNvSpPr txBox="1"/>
          <p:nvPr/>
        </p:nvSpPr>
        <p:spPr>
          <a:xfrm>
            <a:off x="2606040" y="4709160"/>
            <a:ext cx="2377440" cy="365760"/>
          </a:xfrm>
          <a:prstGeom prst="rect">
            <a:avLst/>
          </a:prstGeom>
          <a:noFill/>
          <a:ln/>
        </p:spPr>
        <p:txBody>
          <a:bodyPr wrap="square" lIns="0" tIns="0" rIns="0" bIns="0" rtlCol="0" anchor="ctr"/>
          <a:lstStyle/>
          <a:p>
            <a:pPr algn="ctr" indent="0" marL="0">
              <a:buNone/>
            </a:pPr>
            <a:r>
              <a:rPr lang="en-US" sz="1700" b="1" dirty="0">
                <a:solidFill>
                  <a:schemeClr val="tx1"/>
                </a:solidFill>
              </a:rPr>
              <a:t>Session 1 · done</a:t>
            </a:r>
            <a:endParaRPr lang="en-US" sz="1700" dirty="0"/>
          </a:p>
        </p:txBody>
      </p:sp>
      <p:sp>
        <p:nvSpPr>
          <p:cNvPr id="15" name="Session 1 · done desc"/>
          <p:cNvSpPr txBox="1"/>
          <p:nvPr/>
        </p:nvSpPr>
        <p:spPr>
          <a:xfrm>
            <a:off x="2606040" y="5074920"/>
            <a:ext cx="2377440" cy="365760"/>
          </a:xfrm>
          <a:prstGeom prst="rect">
            <a:avLst/>
          </a:prstGeom>
          <a:noFill/>
          <a:ln/>
        </p:spPr>
        <p:txBody>
          <a:bodyPr wrap="square" lIns="0" tIns="0" rIns="0" bIns="0" rtlCol="0" anchor="ctr"/>
          <a:lstStyle/>
          <a:p>
            <a:pPr algn="ctr" indent="0" marL="0">
              <a:buNone/>
            </a:pPr>
            <a:r>
              <a:rPr lang="en-US" sz="1400" dirty="0">
                <a:solidFill>
                  <a:schemeClr val="accent5"/>
                </a:solidFill>
              </a:rPr>
              <a:t>Problem framed and signed</a:t>
            </a:r>
            <a:endParaRPr lang="en-US" sz="1400" dirty="0"/>
          </a:p>
        </p:txBody>
      </p:sp>
      <p:sp>
        <p:nvSpPr>
          <p:cNvPr id="16" name="Session 2 · done span"/>
          <p:cNvSpPr/>
          <p:nvPr/>
        </p:nvSpPr>
        <p:spPr>
          <a:xfrm>
            <a:off x="6217920" y="4343400"/>
            <a:ext cx="2057400" cy="0"/>
          </a:xfrm>
          <a:prstGeom prst="line">
            <a:avLst/>
          </a:prstGeom>
          <a:noFill/>
          <a:ln w="25400">
            <a:solidFill>
              <a:schemeClr val="accent6"/>
            </a:solidFill>
            <a:prstDash val="solid"/>
          </a:ln>
        </p:spPr>
      </p:sp>
      <p:sp>
        <p:nvSpPr>
          <p:cNvPr id="17" name="Session 2 · done circle"/>
          <p:cNvSpPr/>
          <p:nvPr/>
        </p:nvSpPr>
        <p:spPr>
          <a:xfrm>
            <a:off x="6995160" y="4114800"/>
            <a:ext cx="457200" cy="457200"/>
          </a:xfrm>
          <a:prstGeom prst="ellipse">
            <a:avLst/>
          </a:prstGeom>
          <a:solidFill>
            <a:schemeClr val="accent1"/>
          </a:solidFill>
          <a:ln w="12700">
            <a:solidFill>
              <a:schemeClr val="accent1"/>
            </a:solidFill>
            <a:prstDash val="solid"/>
          </a:ln>
        </p:spPr>
      </p:sp>
      <p:pic>
        <p:nvPicPr>
          <p:cNvPr id="18" name="Session 2 · done icon" descr="Session 2 · done">    </p:cNvPr>
          <p:cNvPicPr>
            <a:picLocks noChangeAspect="1"/>
          </p:cNvPicPr>
          <p:nvPr/>
        </p:nvPicPr>
        <p:blipFill>
          <a:blip r:embed="rId2"/>
          <a:stretch>
            <a:fillRect/>
          </a:stretch>
        </p:blipFill>
        <p:spPr>
          <a:xfrm>
            <a:off x="7114032" y="4233672"/>
            <a:ext cx="219456" cy="219456"/>
          </a:xfrm>
          <a:prstGeom prst="rect">
            <a:avLst/>
          </a:prstGeom>
        </p:spPr>
      </p:pic>
      <p:sp>
        <p:nvSpPr>
          <p:cNvPr id="19" name="Session 2 · done name"/>
          <p:cNvSpPr txBox="1"/>
          <p:nvPr/>
        </p:nvSpPr>
        <p:spPr>
          <a:xfrm>
            <a:off x="6035040" y="4709160"/>
            <a:ext cx="2377440" cy="365760"/>
          </a:xfrm>
          <a:prstGeom prst="rect">
            <a:avLst/>
          </a:prstGeom>
          <a:noFill/>
          <a:ln/>
        </p:spPr>
        <p:txBody>
          <a:bodyPr wrap="square" lIns="0" tIns="0" rIns="0" bIns="0" rtlCol="0" anchor="ctr"/>
          <a:lstStyle/>
          <a:p>
            <a:pPr algn="ctr" indent="0" marL="0">
              <a:buNone/>
            </a:pPr>
            <a:r>
              <a:rPr lang="en-US" sz="1700" b="1" dirty="0">
                <a:solidFill>
                  <a:schemeClr val="tx1"/>
                </a:solidFill>
              </a:rPr>
              <a:t>Session 2 · done</a:t>
            </a:r>
            <a:endParaRPr lang="en-US" sz="1700" dirty="0"/>
          </a:p>
        </p:txBody>
      </p:sp>
      <p:sp>
        <p:nvSpPr>
          <p:cNvPr id="20" name="Session 2 · done desc"/>
          <p:cNvSpPr txBox="1"/>
          <p:nvPr/>
        </p:nvSpPr>
        <p:spPr>
          <a:xfrm>
            <a:off x="6035040" y="5074920"/>
            <a:ext cx="2377440" cy="365760"/>
          </a:xfrm>
          <a:prstGeom prst="rect">
            <a:avLst/>
          </a:prstGeom>
          <a:noFill/>
          <a:ln/>
        </p:spPr>
        <p:txBody>
          <a:bodyPr wrap="square" lIns="0" tIns="0" rIns="0" bIns="0" rtlCol="0" anchor="ctr"/>
          <a:lstStyle/>
          <a:p>
            <a:pPr algn="ctr" indent="0" marL="0">
              <a:buNone/>
            </a:pPr>
            <a:r>
              <a:rPr lang="en-US" sz="1400" dirty="0">
                <a:solidFill>
                  <a:schemeClr val="accent5"/>
                </a:solidFill>
              </a:rPr>
              <a:t>Concept chosen by Manuel</a:t>
            </a:r>
            <a:endParaRPr lang="en-US" sz="1400" dirty="0"/>
          </a:p>
        </p:txBody>
      </p:sp>
      <p:sp>
        <p:nvSpPr>
          <p:cNvPr id="21" name="Session 3 · by 16 Oct span"/>
          <p:cNvSpPr/>
          <p:nvPr/>
        </p:nvSpPr>
        <p:spPr>
          <a:xfrm>
            <a:off x="8458200" y="4343400"/>
            <a:ext cx="2057400" cy="0"/>
          </a:xfrm>
          <a:prstGeom prst="line">
            <a:avLst/>
          </a:prstGeom>
          <a:noFill/>
          <a:ln w="25400">
            <a:solidFill>
              <a:schemeClr val="accent6"/>
            </a:solidFill>
            <a:prstDash val="solid"/>
          </a:ln>
        </p:spPr>
      </p:sp>
      <p:sp>
        <p:nvSpPr>
          <p:cNvPr id="22" name="Session 3 · by 16 Oct circle"/>
          <p:cNvSpPr/>
          <p:nvPr/>
        </p:nvSpPr>
        <p:spPr>
          <a:xfrm>
            <a:off x="9281160" y="4114800"/>
            <a:ext cx="457200" cy="457200"/>
          </a:xfrm>
          <a:prstGeom prst="ellipse">
            <a:avLst/>
          </a:prstGeom>
          <a:solidFill>
            <a:schemeClr val="bg1"/>
          </a:solidFill>
          <a:ln w="25400">
            <a:solidFill>
              <a:schemeClr val="accent1"/>
            </a:solidFill>
            <a:prstDash val="solid"/>
          </a:ln>
        </p:spPr>
      </p:sp>
      <p:sp>
        <p:nvSpPr>
          <p:cNvPr id="23" name="Session 3 · by 16 Oct name"/>
          <p:cNvSpPr txBox="1"/>
          <p:nvPr/>
        </p:nvSpPr>
        <p:spPr>
          <a:xfrm>
            <a:off x="8321040" y="4709160"/>
            <a:ext cx="2377440" cy="365760"/>
          </a:xfrm>
          <a:prstGeom prst="rect">
            <a:avLst/>
          </a:prstGeom>
          <a:noFill/>
          <a:ln/>
        </p:spPr>
        <p:txBody>
          <a:bodyPr wrap="square" lIns="0" tIns="0" rIns="0" bIns="0" rtlCol="0" anchor="ctr"/>
          <a:lstStyle/>
          <a:p>
            <a:pPr algn="ctr" indent="0" marL="0">
              <a:buNone/>
            </a:pPr>
            <a:r>
              <a:rPr lang="en-US" sz="1700" b="1" dirty="0">
                <a:solidFill>
                  <a:schemeClr val="tx1"/>
                </a:solidFill>
              </a:rPr>
              <a:t>Session 3 · by 16 Oct</a:t>
            </a:r>
            <a:endParaRPr lang="en-US" sz="1700" dirty="0"/>
          </a:p>
        </p:txBody>
      </p:sp>
      <p:sp>
        <p:nvSpPr>
          <p:cNvPr id="24" name="Session 3 · by 16 Oct desc"/>
          <p:cNvSpPr txBox="1"/>
          <p:nvPr/>
        </p:nvSpPr>
        <p:spPr>
          <a:xfrm>
            <a:off x="8321040" y="5074920"/>
            <a:ext cx="2377440" cy="365760"/>
          </a:xfrm>
          <a:prstGeom prst="rect">
            <a:avLst/>
          </a:prstGeom>
          <a:noFill/>
          <a:ln/>
        </p:spPr>
        <p:txBody>
          <a:bodyPr wrap="square" lIns="0" tIns="0" rIns="0" bIns="0" rtlCol="0" anchor="ctr"/>
          <a:lstStyle/>
          <a:p>
            <a:pPr algn="ctr" indent="0" marL="0">
              <a:buNone/>
            </a:pPr>
            <a:r>
              <a:rPr lang="en-US" sz="1400" dirty="0">
                <a:solidFill>
                  <a:schemeClr val="accent5"/>
                </a:solidFill>
              </a:rPr>
              <a:t>Test the prototype at home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Manuel has a smartphone, but cannot work it</a:t>
            </a:r>
            <a:endParaRPr lang="en-US" sz="3200" dirty="0"/>
          </a:p>
        </p:txBody>
      </p:sp>
      <p:sp>
        <p:nvSpPr>
          <p:cNvPr id="3" name="Name"/>
          <p:cNvSpPr txBox="1"/>
          <p:nvPr/>
        </p:nvSpPr>
        <p:spPr>
          <a:xfrm>
            <a:off x="548640" y="1325880"/>
            <a:ext cx="512064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Manuel, 80</a:t>
            </a:r>
            <a:endParaRPr lang="en-US" sz="2800" dirty="0"/>
          </a:p>
        </p:txBody>
      </p:sp>
      <p:sp>
        <p:nvSpPr>
          <p:cNvPr id="4" name="Home circle"/>
          <p:cNvSpPr/>
          <p:nvPr/>
        </p:nvSpPr>
        <p:spPr>
          <a:xfrm>
            <a:off x="548640" y="2194560"/>
            <a:ext cx="457200" cy="457200"/>
          </a:xfrm>
          <a:prstGeom prst="ellipse">
            <a:avLst/>
          </a:prstGeom>
          <a:solidFill>
            <a:schemeClr val="accent1"/>
          </a:solidFill>
          <a:ln w="12700">
            <a:solidFill>
              <a:schemeClr val="accent1"/>
            </a:solidFill>
            <a:prstDash val="solid"/>
          </a:ln>
        </p:spPr>
      </p:sp>
      <p:pic>
        <p:nvPicPr>
          <p:cNvPr id="5" name="Home icon" descr="Home">    </p:cNvPr>
          <p:cNvPicPr>
            <a:picLocks noChangeAspect="1"/>
          </p:cNvPicPr>
          <p:nvPr/>
        </p:nvPicPr>
        <p:blipFill>
          <a:blip r:embed="rId1"/>
          <a:stretch>
            <a:fillRect/>
          </a:stretch>
        </p:blipFill>
        <p:spPr>
          <a:xfrm>
            <a:off x="667512" y="2313432"/>
            <a:ext cx="219456" cy="219456"/>
          </a:xfrm>
          <a:prstGeom prst="rect">
            <a:avLst/>
          </a:prstGeom>
        </p:spPr>
      </p:pic>
      <p:sp>
        <p:nvSpPr>
          <p:cNvPr id="6" name="Home fact"/>
          <p:cNvSpPr txBox="1"/>
          <p:nvPr/>
        </p:nvSpPr>
        <p:spPr>
          <a:xfrm>
            <a:off x="1188720" y="2103120"/>
            <a:ext cx="4480560" cy="658368"/>
          </a:xfrm>
          <a:prstGeom prst="rect">
            <a:avLst/>
          </a:prstGeom>
          <a:noFill/>
          <a:ln/>
        </p:spPr>
        <p:txBody>
          <a:bodyPr wrap="square" lIns="0" tIns="0" rIns="0" bIns="0" rtlCol="0" anchor="ctr"/>
          <a:lstStyle/>
          <a:p>
            <a:pPr indent="0" marL="0">
              <a:buNone/>
            </a:pPr>
            <a:r>
              <a:rPr lang="en-US" sz="1600" dirty="0">
                <a:solidFill>
                  <a:schemeClr val="tx1"/>
                </a:solidFill>
              </a:rPr>
              <a:t>Lives alone in Lisbon; plays bisca at the café every day</a:t>
            </a:r>
            <a:endParaRPr lang="en-US" sz="1600" dirty="0"/>
          </a:p>
        </p:txBody>
      </p:sp>
      <p:sp>
        <p:nvSpPr>
          <p:cNvPr id="7" name="Phone circle"/>
          <p:cNvSpPr/>
          <p:nvPr/>
        </p:nvSpPr>
        <p:spPr>
          <a:xfrm>
            <a:off x="548640" y="2971800"/>
            <a:ext cx="457200" cy="457200"/>
          </a:xfrm>
          <a:prstGeom prst="ellipse">
            <a:avLst/>
          </a:prstGeom>
          <a:solidFill>
            <a:schemeClr val="accent1"/>
          </a:solidFill>
          <a:ln w="12700">
            <a:solidFill>
              <a:schemeClr val="accent1"/>
            </a:solidFill>
            <a:prstDash val="solid"/>
          </a:ln>
        </p:spPr>
      </p:sp>
      <p:pic>
        <p:nvPicPr>
          <p:cNvPr id="8" name="Phone icon" descr="Phone">    </p:cNvPr>
          <p:cNvPicPr>
            <a:picLocks noChangeAspect="1"/>
          </p:cNvPicPr>
          <p:nvPr/>
        </p:nvPicPr>
        <p:blipFill>
          <a:blip r:embed="rId2"/>
          <a:stretch>
            <a:fillRect/>
          </a:stretch>
        </p:blipFill>
        <p:spPr>
          <a:xfrm>
            <a:off x="667512" y="3090672"/>
            <a:ext cx="219456" cy="219456"/>
          </a:xfrm>
          <a:prstGeom prst="rect">
            <a:avLst/>
          </a:prstGeom>
        </p:spPr>
      </p:pic>
      <p:sp>
        <p:nvSpPr>
          <p:cNvPr id="9" name="Phone fact"/>
          <p:cNvSpPr txBox="1"/>
          <p:nvPr/>
        </p:nvSpPr>
        <p:spPr>
          <a:xfrm>
            <a:off x="1188720" y="2880360"/>
            <a:ext cx="4480560" cy="658368"/>
          </a:xfrm>
          <a:prstGeom prst="rect">
            <a:avLst/>
          </a:prstGeom>
          <a:noFill/>
          <a:ln/>
        </p:spPr>
        <p:txBody>
          <a:bodyPr wrap="square" lIns="0" tIns="0" rIns="0" bIns="0" rtlCol="0" anchor="ctr"/>
          <a:lstStyle/>
          <a:p>
            <a:pPr indent="0" marL="0">
              <a:buNone/>
            </a:pPr>
            <a:r>
              <a:rPr lang="en-US" sz="1600" dirty="0">
                <a:solidFill>
                  <a:schemeClr val="tx1"/>
                </a:solidFill>
              </a:rPr>
              <a:t>His daughter bought him a smartphone in July; he does not know how to work it, so it sits in a drawer</a:t>
            </a:r>
            <a:endParaRPr lang="en-US" sz="1600" dirty="0"/>
          </a:p>
        </p:txBody>
      </p:sp>
      <p:sp>
        <p:nvSpPr>
          <p:cNvPr id="10" name="People circle"/>
          <p:cNvSpPr/>
          <p:nvPr/>
        </p:nvSpPr>
        <p:spPr>
          <a:xfrm>
            <a:off x="548640" y="3749040"/>
            <a:ext cx="457200" cy="457200"/>
          </a:xfrm>
          <a:prstGeom prst="ellipse">
            <a:avLst/>
          </a:prstGeom>
          <a:solidFill>
            <a:schemeClr val="accent1"/>
          </a:solidFill>
          <a:ln w="12700">
            <a:solidFill>
              <a:schemeClr val="accent1"/>
            </a:solidFill>
            <a:prstDash val="solid"/>
          </a:ln>
        </p:spPr>
      </p:sp>
      <p:pic>
        <p:nvPicPr>
          <p:cNvPr id="11" name="People icon" descr="People">    </p:cNvPr>
          <p:cNvPicPr>
            <a:picLocks noChangeAspect="1"/>
          </p:cNvPicPr>
          <p:nvPr/>
        </p:nvPicPr>
        <p:blipFill>
          <a:blip r:embed="rId3"/>
          <a:stretch>
            <a:fillRect/>
          </a:stretch>
        </p:blipFill>
        <p:spPr>
          <a:xfrm>
            <a:off x="667512" y="3867912"/>
            <a:ext cx="219456" cy="219456"/>
          </a:xfrm>
          <a:prstGeom prst="rect">
            <a:avLst/>
          </a:prstGeom>
        </p:spPr>
      </p:pic>
      <p:sp>
        <p:nvSpPr>
          <p:cNvPr id="12" name="People fact"/>
          <p:cNvSpPr txBox="1"/>
          <p:nvPr/>
        </p:nvSpPr>
        <p:spPr>
          <a:xfrm>
            <a:off x="1188720" y="3657600"/>
            <a:ext cx="4480560" cy="658368"/>
          </a:xfrm>
          <a:prstGeom prst="rect">
            <a:avLst/>
          </a:prstGeom>
          <a:noFill/>
          <a:ln/>
        </p:spPr>
        <p:txBody>
          <a:bodyPr wrap="square" lIns="0" tIns="0" rIns="0" bIns="0" rtlCol="0" anchor="ctr"/>
          <a:lstStyle/>
          <a:p>
            <a:pPr indent="0" marL="0">
              <a:buNone/>
            </a:pPr>
            <a:r>
              <a:rPr lang="en-US" sz="1600" dirty="0">
                <a:solidFill>
                  <a:schemeClr val="tx1"/>
                </a:solidFill>
              </a:rPr>
              <a:t>His family shares everything in a WhatsApp group: news, and photos of his newborn great-grandson</a:t>
            </a:r>
            <a:endParaRPr lang="en-US" sz="1600" dirty="0"/>
          </a:p>
        </p:txBody>
      </p:sp>
      <p:sp>
        <p:nvSpPr>
          <p:cNvPr id="13" name="Problem statement card"/>
          <p:cNvSpPr/>
          <p:nvPr/>
        </p:nvSpPr>
        <p:spPr>
          <a:xfrm>
            <a:off x="6126480" y="1371600"/>
            <a:ext cx="5486400" cy="3246120"/>
          </a:xfrm>
          <a:prstGeom prst="roundRect">
            <a:avLst>
              <a:gd name="adj" fmla="val 3380"/>
            </a:avLst>
          </a:prstGeom>
          <a:solidFill>
            <a:schemeClr val="bg2"/>
          </a:solidFill>
          <a:ln w="12700">
            <a:solidFill>
              <a:schemeClr val="bg2"/>
            </a:solidFill>
            <a:prstDash val="solid"/>
          </a:ln>
        </p:spPr>
      </p:sp>
      <p:sp>
        <p:nvSpPr>
          <p:cNvPr id="14" name="Problem label"/>
          <p:cNvSpPr txBox="1"/>
          <p:nvPr/>
        </p:nvSpPr>
        <p:spPr>
          <a:xfrm>
            <a:off x="6400800" y="1572768"/>
            <a:ext cx="493776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THE PROBLEM STATEMENT HE SIGNED</a:t>
            </a:r>
            <a:endParaRPr lang="en-US" sz="1200" dirty="0"/>
          </a:p>
        </p:txBody>
      </p:sp>
      <p:sp>
        <p:nvSpPr>
          <p:cNvPr id="15" name="Problem statement"/>
          <p:cNvSpPr txBox="1"/>
          <p:nvPr/>
        </p:nvSpPr>
        <p:spPr>
          <a:xfrm>
            <a:off x="6400800" y="1920240"/>
            <a:ext cx="4937760" cy="2514600"/>
          </a:xfrm>
          <a:prstGeom prst="rect">
            <a:avLst/>
          </a:prstGeom>
          <a:noFill/>
          <a:ln/>
        </p:spPr>
        <p:txBody>
          <a:bodyPr wrap="square" lIns="0" tIns="0" rIns="0" bIns="0" rtlCol="0" anchor="t"/>
          <a:lstStyle/>
          <a:p>
            <a:pPr indent="0" marL="0">
              <a:buNone/>
            </a:pPr>
            <a:r>
              <a:rPr lang="en-US" sz="2000" dirty="0">
                <a:solidFill>
                  <a:schemeClr val="tx1"/>
                </a:solidFill>
              </a:rPr>
              <a:t>Manuel needs a way to see the new photos of his great-grandson, to hear the family group and to reply with a short sentence, without learning the smartphone. He needs the sender’s name first, because a message that says “olá pai” may be a scam.</a:t>
            </a:r>
            <a:endParaRPr lang="en-US" sz="2000" dirty="0"/>
          </a:p>
        </p:txBody>
      </p:sp>
      <p:sp>
        <p:nvSpPr>
          <p:cNvPr id="16" name="Pull quote"/>
          <p:cNvSpPr txBox="1"/>
          <p:nvPr/>
        </p:nvSpPr>
        <p:spPr>
          <a:xfrm>
            <a:off x="548640" y="4709160"/>
            <a:ext cx="11064240" cy="777240"/>
          </a:xfrm>
          <a:prstGeom prst="rect">
            <a:avLst/>
          </a:prstGeom>
          <a:noFill/>
          <a:ln/>
        </p:spPr>
        <p:txBody>
          <a:bodyPr wrap="square" lIns="0" tIns="0" rIns="0" bIns="0" rtlCol="0" anchor="ctr"/>
          <a:lstStyle/>
          <a:p>
            <a:pPr indent="0" marL="0">
              <a:buNone/>
            </a:pPr>
            <a:r>
              <a:rPr lang="en-US" sz="2800" i="1" dirty="0">
                <a:solidFill>
                  <a:schemeClr val="accent3"/>
                </a:solidFill>
                <a:latin typeface="Cambria" pitchFamily="34" charset="0"/>
                <a:ea typeface="Cambria" pitchFamily="34" charset="-122"/>
                <a:cs typeface="Cambria" pitchFamily="34" charset="-120"/>
              </a:rPr>
              <a:t>“They already got it. They did not get me a way to work it.”</a:t>
            </a:r>
            <a:endParaRPr lang="en-US" sz="2800" dirty="0"/>
          </a:p>
        </p:txBody>
      </p:sp>
      <p:sp>
        <p:nvSpPr>
          <p:cNvPr id="17" name="Quote attribution"/>
          <p:cNvSpPr txBox="1"/>
          <p:nvPr/>
        </p:nvSpPr>
        <p:spPr>
          <a:xfrm>
            <a:off x="548640" y="5532120"/>
            <a:ext cx="5486400" cy="320040"/>
          </a:xfrm>
          <a:prstGeom prst="rect">
            <a:avLst/>
          </a:prstGeom>
          <a:noFill/>
          <a:ln/>
        </p:spPr>
        <p:txBody>
          <a:bodyPr wrap="square" lIns="0" tIns="0" rIns="0" bIns="0" rtlCol="0" anchor="ctr"/>
          <a:lstStyle/>
          <a:p>
            <a:pPr indent="0" marL="0">
              <a:buNone/>
            </a:pPr>
            <a:r>
              <a:rPr lang="en-US" sz="1400" dirty="0">
                <a:solidFill>
                  <a:schemeClr val="accent5"/>
                </a:solidFill>
              </a:rPr>
              <a:t>Manuel, session 1</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Why it matters</a:t>
            </a:r>
            <a:endParaRPr lang="en-US" sz="3200" dirty="0"/>
          </a:p>
        </p:txBody>
      </p:sp>
      <p:sp>
        <p:nvSpPr>
          <p:cNvPr id="3" name="Stat 1"/>
          <p:cNvSpPr txBox="1"/>
          <p:nvPr/>
        </p:nvSpPr>
        <p:spPr>
          <a:xfrm>
            <a:off x="548640" y="1325880"/>
            <a:ext cx="352044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24.3%</a:t>
            </a:r>
            <a:endParaRPr lang="en-US" sz="5400" dirty="0"/>
          </a:p>
        </p:txBody>
      </p:sp>
      <p:sp>
        <p:nvSpPr>
          <p:cNvPr id="4" name="Stat label 1"/>
          <p:cNvSpPr txBox="1"/>
          <p:nvPr/>
        </p:nvSpPr>
        <p:spPr>
          <a:xfrm>
            <a:off x="548640" y="2286000"/>
            <a:ext cx="3520440" cy="868680"/>
          </a:xfrm>
          <a:prstGeom prst="rect">
            <a:avLst/>
          </a:prstGeom>
          <a:noFill/>
          <a:ln/>
        </p:spPr>
        <p:txBody>
          <a:bodyPr wrap="square" lIns="0" tIns="0" rIns="0" bIns="0" rtlCol="0" anchor="t"/>
          <a:lstStyle/>
          <a:p>
            <a:pPr indent="0" marL="0">
              <a:buNone/>
            </a:pPr>
            <a:r>
              <a:rPr lang="en-US" sz="1600" dirty="0">
                <a:solidFill>
                  <a:schemeClr val="tx1"/>
                </a:solidFill>
              </a:rPr>
              <a:t>of people in Portugal are 65 or older, second-highest in the EU (EU: 22.0%)</a:t>
            </a:r>
            <a:endParaRPr lang="en-US" sz="1600" dirty="0"/>
          </a:p>
        </p:txBody>
      </p:sp>
      <p:sp>
        <p:nvSpPr>
          <p:cNvPr id="5" name="Stat source 1"/>
          <p:cNvSpPr txBox="1"/>
          <p:nvPr/>
        </p:nvSpPr>
        <p:spPr>
          <a:xfrm>
            <a:off x="548640" y="3200400"/>
            <a:ext cx="3520440" cy="274320"/>
          </a:xfrm>
          <a:prstGeom prst="rect">
            <a:avLst/>
          </a:prstGeom>
          <a:noFill/>
          <a:ln/>
        </p:spPr>
        <p:txBody>
          <a:bodyPr wrap="square" lIns="0" tIns="0" rIns="0" bIns="0" rtlCol="0" anchor="ctr"/>
          <a:lstStyle/>
          <a:p>
            <a:pPr indent="0" marL="0">
              <a:buNone/>
            </a:pPr>
            <a:r>
              <a:rPr lang="en-US" sz="1100" dirty="0">
                <a:solidFill>
                  <a:schemeClr val="accent5"/>
                </a:solidFill>
              </a:rPr>
              <a:t>Eurostat, 1 January 2025</a:t>
            </a:r>
            <a:endParaRPr lang="en-US" sz="1100" dirty="0"/>
          </a:p>
        </p:txBody>
      </p:sp>
      <p:sp>
        <p:nvSpPr>
          <p:cNvPr id="6" name="Stat 2"/>
          <p:cNvSpPr txBox="1"/>
          <p:nvPr/>
        </p:nvSpPr>
        <p:spPr>
          <a:xfrm>
            <a:off x="4343400" y="1325880"/>
            <a:ext cx="352044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36%</a:t>
            </a:r>
            <a:endParaRPr lang="en-US" sz="5400" dirty="0"/>
          </a:p>
        </p:txBody>
      </p:sp>
      <p:sp>
        <p:nvSpPr>
          <p:cNvPr id="7" name="Stat label 2"/>
          <p:cNvSpPr txBox="1"/>
          <p:nvPr/>
        </p:nvSpPr>
        <p:spPr>
          <a:xfrm>
            <a:off x="4343400" y="2286000"/>
            <a:ext cx="3520440" cy="868680"/>
          </a:xfrm>
          <a:prstGeom prst="rect">
            <a:avLst/>
          </a:prstGeom>
          <a:noFill/>
          <a:ln/>
        </p:spPr>
        <p:txBody>
          <a:bodyPr wrap="square" lIns="0" tIns="0" rIns="0" bIns="0" rtlCol="0" anchor="t"/>
          <a:lstStyle/>
          <a:p>
            <a:pPr indent="0" marL="0">
              <a:buNone/>
            </a:pPr>
            <a:r>
              <a:rPr lang="en-US" sz="1600" dirty="0">
                <a:solidFill>
                  <a:schemeClr val="tx1"/>
                </a:solidFill>
              </a:rPr>
              <a:t>of 65–74 year-olds in Portugal have never used the internet (EU: 16%)</a:t>
            </a:r>
            <a:endParaRPr lang="en-US" sz="1600" dirty="0"/>
          </a:p>
        </p:txBody>
      </p:sp>
      <p:sp>
        <p:nvSpPr>
          <p:cNvPr id="8" name="Stat source 2"/>
          <p:cNvSpPr txBox="1"/>
          <p:nvPr/>
        </p:nvSpPr>
        <p:spPr>
          <a:xfrm>
            <a:off x="4343400" y="3200400"/>
            <a:ext cx="3520440" cy="274320"/>
          </a:xfrm>
          <a:prstGeom prst="rect">
            <a:avLst/>
          </a:prstGeom>
          <a:noFill/>
          <a:ln/>
        </p:spPr>
        <p:txBody>
          <a:bodyPr wrap="square" lIns="0" tIns="0" rIns="0" bIns="0" rtlCol="0" anchor="ctr"/>
          <a:lstStyle/>
          <a:p>
            <a:pPr indent="0" marL="0">
              <a:buNone/>
            </a:pPr>
            <a:r>
              <a:rPr lang="en-US" sz="1100" dirty="0">
                <a:solidFill>
                  <a:schemeClr val="accent5"/>
                </a:solidFill>
              </a:rPr>
              <a:t>Eurostat, 2025</a:t>
            </a:r>
            <a:endParaRPr lang="en-US" sz="1100" dirty="0"/>
          </a:p>
        </p:txBody>
      </p:sp>
      <p:sp>
        <p:nvSpPr>
          <p:cNvPr id="9" name="Stat 3"/>
          <p:cNvSpPr txBox="1"/>
          <p:nvPr/>
        </p:nvSpPr>
        <p:spPr>
          <a:xfrm>
            <a:off x="8138160" y="1325880"/>
            <a:ext cx="352044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517,146</a:t>
            </a:r>
            <a:endParaRPr lang="en-US" sz="5400" dirty="0"/>
          </a:p>
        </p:txBody>
      </p:sp>
      <p:sp>
        <p:nvSpPr>
          <p:cNvPr id="10" name="Stat label 3"/>
          <p:cNvSpPr txBox="1"/>
          <p:nvPr/>
        </p:nvSpPr>
        <p:spPr>
          <a:xfrm>
            <a:off x="8138160" y="2286000"/>
            <a:ext cx="3520440" cy="868680"/>
          </a:xfrm>
          <a:prstGeom prst="rect">
            <a:avLst/>
          </a:prstGeom>
          <a:noFill/>
          <a:ln/>
        </p:spPr>
        <p:txBody>
          <a:bodyPr wrap="square" lIns="0" tIns="0" rIns="0" bIns="0" rtlCol="0" anchor="t"/>
          <a:lstStyle/>
          <a:p>
            <a:pPr indent="0" marL="0">
              <a:buNone/>
            </a:pPr>
            <a:r>
              <a:rPr lang="en-US" sz="1600" dirty="0">
                <a:solidFill>
                  <a:schemeClr val="tx1"/>
                </a:solidFill>
              </a:rPr>
              <a:t>people aged 65 or older lived alone in Portugal at the last census</a:t>
            </a:r>
            <a:endParaRPr lang="en-US" sz="1600" dirty="0"/>
          </a:p>
        </p:txBody>
      </p:sp>
      <p:sp>
        <p:nvSpPr>
          <p:cNvPr id="11" name="Stat source 3"/>
          <p:cNvSpPr txBox="1"/>
          <p:nvPr/>
        </p:nvSpPr>
        <p:spPr>
          <a:xfrm>
            <a:off x="8138160" y="3200400"/>
            <a:ext cx="3520440" cy="274320"/>
          </a:xfrm>
          <a:prstGeom prst="rect">
            <a:avLst/>
          </a:prstGeom>
          <a:noFill/>
          <a:ln/>
        </p:spPr>
        <p:txBody>
          <a:bodyPr wrap="square" lIns="0" tIns="0" rIns="0" bIns="0" rtlCol="0" anchor="ctr"/>
          <a:lstStyle/>
          <a:p>
            <a:pPr indent="0" marL="0">
              <a:buNone/>
            </a:pPr>
            <a:r>
              <a:rPr lang="en-US" sz="1100" dirty="0">
                <a:solidFill>
                  <a:schemeClr val="accent5"/>
                </a:solidFill>
              </a:rPr>
              <a:t>INE, Census 2021</a:t>
            </a:r>
            <a:endParaRPr lang="en-US" sz="1100" dirty="0"/>
          </a:p>
        </p:txBody>
      </p:sp>
      <p:sp>
        <p:nvSpPr>
          <p:cNvPr id="12" name="Exists label"/>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800" b="1" dirty="0">
                <a:solidFill>
                  <a:schemeClr val="tx1"/>
                </a:solidFill>
              </a:rPr>
              <a:t>What already exists</a:t>
            </a:r>
            <a:endParaRPr lang="en-US" sz="1800" dirty="0"/>
          </a:p>
        </p:txBody>
      </p:sp>
      <p:sp>
        <p:nvSpPr>
          <p:cNvPr id="13" name="Product 1"/>
          <p:cNvSpPr/>
          <p:nvPr/>
        </p:nvSpPr>
        <p:spPr>
          <a:xfrm>
            <a:off x="548640" y="4343400"/>
            <a:ext cx="3520440" cy="1097280"/>
          </a:xfrm>
          <a:prstGeom prst="roundRect">
            <a:avLst>
              <a:gd name="adj" fmla="val 10000"/>
            </a:avLst>
          </a:prstGeom>
          <a:solidFill>
            <a:schemeClr val="bg2"/>
          </a:solidFill>
          <a:ln w="12700">
            <a:solidFill>
              <a:schemeClr val="bg2"/>
            </a:solidFill>
            <a:prstDash val="solid"/>
          </a:ln>
        </p:spPr>
      </p:sp>
      <p:sp>
        <p:nvSpPr>
          <p:cNvPr id="14" name="Product text 1"/>
          <p:cNvSpPr txBox="1"/>
          <p:nvPr/>
        </p:nvSpPr>
        <p:spPr>
          <a:xfrm>
            <a:off x="777240" y="4434840"/>
            <a:ext cx="3063240" cy="914400"/>
          </a:xfrm>
          <a:prstGeom prst="rect">
            <a:avLst/>
          </a:prstGeom>
          <a:noFill/>
          <a:ln/>
        </p:spPr>
        <p:txBody>
          <a:bodyPr wrap="square" lIns="0" tIns="0" rIns="0" bIns="0" rtlCol="0" anchor="ctr"/>
          <a:lstStyle/>
          <a:p>
            <a:pPr indent="0" marL="0">
              <a:buNone/>
            </a:pPr>
            <a:r>
              <a:rPr lang="en-US" sz="1500" b="1" dirty="0">
                <a:solidFill>
                  <a:schemeClr val="tx1"/>
                </a:solidFill>
              </a:rPr>
              <a:t>Minimal phones</a:t>
            </a:r>
            <a:endParaRPr lang="en-US" sz="1500" dirty="0"/>
          </a:p>
          <a:p>
            <a:pPr indent="0" marL="0">
              <a:buNone/>
            </a:pPr>
            <a:r>
              <a:rPr lang="en-US" sz="1500" dirty="0">
                <a:solidFill>
                  <a:schemeClr val="accent5"/>
                </a:solidFill>
              </a:rPr>
              <a:t>Light Phone: no WhatsApp</a:t>
            </a:r>
            <a:endParaRPr lang="en-US" sz="1500" dirty="0"/>
          </a:p>
        </p:txBody>
      </p:sp>
      <p:sp>
        <p:nvSpPr>
          <p:cNvPr id="15" name="Product 2"/>
          <p:cNvSpPr/>
          <p:nvPr/>
        </p:nvSpPr>
        <p:spPr>
          <a:xfrm>
            <a:off x="4343400" y="4343400"/>
            <a:ext cx="3520440" cy="1097280"/>
          </a:xfrm>
          <a:prstGeom prst="roundRect">
            <a:avLst>
              <a:gd name="adj" fmla="val 10000"/>
            </a:avLst>
          </a:prstGeom>
          <a:solidFill>
            <a:schemeClr val="bg2"/>
          </a:solidFill>
          <a:ln w="12700">
            <a:solidFill>
              <a:schemeClr val="bg2"/>
            </a:solidFill>
            <a:prstDash val="solid"/>
          </a:ln>
        </p:spPr>
      </p:sp>
      <p:sp>
        <p:nvSpPr>
          <p:cNvPr id="16" name="Product text 2"/>
          <p:cNvSpPr txBox="1"/>
          <p:nvPr/>
        </p:nvSpPr>
        <p:spPr>
          <a:xfrm>
            <a:off x="4572000" y="4434840"/>
            <a:ext cx="3063240" cy="914400"/>
          </a:xfrm>
          <a:prstGeom prst="rect">
            <a:avLst/>
          </a:prstGeom>
          <a:noFill/>
          <a:ln/>
        </p:spPr>
        <p:txBody>
          <a:bodyPr wrap="square" lIns="0" tIns="0" rIns="0" bIns="0" rtlCol="0" anchor="ctr"/>
          <a:lstStyle/>
          <a:p>
            <a:pPr indent="0" marL="0">
              <a:buNone/>
            </a:pPr>
            <a:r>
              <a:rPr lang="en-US" sz="1500" b="1" dirty="0">
                <a:solidFill>
                  <a:schemeClr val="tx1"/>
                </a:solidFill>
              </a:rPr>
              <a:t>Simplified modes, launchers</a:t>
            </a:r>
            <a:endParaRPr lang="en-US" sz="1500" dirty="0"/>
          </a:p>
          <a:p>
            <a:pPr indent="0" marL="0">
              <a:buNone/>
            </a:pPr>
            <a:r>
              <a:rPr lang="en-US" sz="1500" dirty="0">
                <a:solidFill>
                  <a:schemeClr val="accent5"/>
                </a:solidFill>
              </a:rPr>
              <a:t>Assistive Access, BIG Launcher: WhatsApp keeps its usual design</a:t>
            </a:r>
            <a:endParaRPr lang="en-US" sz="1500" dirty="0"/>
          </a:p>
        </p:txBody>
      </p:sp>
      <p:sp>
        <p:nvSpPr>
          <p:cNvPr id="17" name="Product 3"/>
          <p:cNvSpPr/>
          <p:nvPr/>
        </p:nvSpPr>
        <p:spPr>
          <a:xfrm>
            <a:off x="8138160" y="4343400"/>
            <a:ext cx="3520440" cy="1097280"/>
          </a:xfrm>
          <a:prstGeom prst="roundRect">
            <a:avLst>
              <a:gd name="adj" fmla="val 10000"/>
            </a:avLst>
          </a:prstGeom>
          <a:solidFill>
            <a:schemeClr val="bg2"/>
          </a:solidFill>
          <a:ln w="12700">
            <a:solidFill>
              <a:schemeClr val="bg2"/>
            </a:solidFill>
            <a:prstDash val="solid"/>
          </a:ln>
        </p:spPr>
      </p:sp>
      <p:sp>
        <p:nvSpPr>
          <p:cNvPr id="18" name="Product text 3"/>
          <p:cNvSpPr txBox="1"/>
          <p:nvPr/>
        </p:nvSpPr>
        <p:spPr>
          <a:xfrm>
            <a:off x="8366760" y="4434840"/>
            <a:ext cx="3063240" cy="914400"/>
          </a:xfrm>
          <a:prstGeom prst="rect">
            <a:avLst/>
          </a:prstGeom>
          <a:noFill/>
          <a:ln/>
        </p:spPr>
        <p:txBody>
          <a:bodyPr wrap="square" lIns="0" tIns="0" rIns="0" bIns="0" rtlCol="0" anchor="ctr"/>
          <a:lstStyle/>
          <a:p>
            <a:pPr indent="0" marL="0">
              <a:buNone/>
            </a:pPr>
            <a:r>
              <a:rPr lang="en-US" sz="1500" b="1" dirty="0">
                <a:solidFill>
                  <a:schemeClr val="tx1"/>
                </a:solidFill>
              </a:rPr>
              <a:t>Voice assistants</a:t>
            </a:r>
            <a:endParaRPr lang="en-US" sz="1500" dirty="0"/>
          </a:p>
          <a:p>
            <a:pPr indent="0" marL="0">
              <a:buNone/>
            </a:pPr>
            <a:r>
              <a:rPr lang="en-US" sz="1500" dirty="0">
                <a:solidFill>
                  <a:schemeClr val="accent5"/>
                </a:solidFill>
              </a:rPr>
              <a:t>Alexa, Google Nest: no European Portuguese</a:t>
            </a:r>
            <a:endParaRPr lang="en-US" sz="1500" dirty="0"/>
          </a:p>
        </p:txBody>
      </p:sp>
      <p:sp>
        <p:nvSpPr>
          <p:cNvPr id="19" name="Gap"/>
          <p:cNvSpPr txBox="1"/>
          <p:nvPr/>
        </p:nvSpPr>
        <p:spPr>
          <a:xfrm>
            <a:off x="548640" y="5596128"/>
            <a:ext cx="11064240" cy="548640"/>
          </a:xfrm>
          <a:prstGeom prst="rect">
            <a:avLst/>
          </a:prstGeom>
          <a:noFill/>
          <a:ln/>
        </p:spPr>
        <p:txBody>
          <a:bodyPr wrap="square" lIns="0" tIns="0" rIns="0" bIns="0" rtlCol="0" anchor="t"/>
          <a:lstStyle/>
          <a:p>
            <a:pPr indent="0" marL="0">
              <a:buNone/>
            </a:pPr>
            <a:r>
              <a:rPr lang="en-US" sz="1700" dirty="0">
                <a:solidFill>
                  <a:schemeClr val="tx1"/>
                </a:solidFill>
              </a:rPr>
              <a:t>None gives him his smartphone’s family features in a form he can use.</a:t>
            </a:r>
            <a:endParaRPr lang="en-US" sz="17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Session 1 · Exploring the problem</a:t>
            </a:r>
            <a:endParaRPr lang="en-US" sz="3200" dirty="0"/>
          </a:p>
        </p:txBody>
      </p:sp>
      <p:sp>
        <p:nvSpPr>
          <p:cNvPr id="3" name="Session 1 meta"/>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500" i="1" dirty="0">
                <a:solidFill>
                  <a:schemeClr val="accent3"/>
                </a:solidFill>
              </a:rPr>
              <a:t>[Date]</a:t>
            </a:r>
            <a:pPr indent="0" marL="0">
              <a:buNone/>
            </a:pPr>
            <a:r>
              <a:rPr lang="en-US" sz="1500" dirty="0">
                <a:solidFill>
                  <a:schemeClr val="accent5"/>
                </a:solidFill>
              </a:rPr>
              <a:t> · his kitchen · about 70 minutes · Discover and Define</a:t>
            </a:r>
            <a:endParaRPr lang="en-US" sz="1500" dirty="0"/>
          </a:p>
        </p:txBody>
      </p:sp>
      <p:sp>
        <p:nvSpPr>
          <p:cNvPr id="4" name="Directed storytelling card"/>
          <p:cNvSpPr/>
          <p:nvPr/>
        </p:nvSpPr>
        <p:spPr>
          <a:xfrm>
            <a:off x="548640" y="1600200"/>
            <a:ext cx="3520440" cy="2057400"/>
          </a:xfrm>
          <a:prstGeom prst="roundRect">
            <a:avLst>
              <a:gd name="adj" fmla="val 5333"/>
            </a:avLst>
          </a:prstGeom>
          <a:solidFill>
            <a:schemeClr val="bg2"/>
          </a:solidFill>
          <a:ln w="12700">
            <a:solidFill>
              <a:schemeClr val="bg2"/>
            </a:solidFill>
            <a:prstDash val="solid"/>
          </a:ln>
        </p:spPr>
      </p:sp>
      <p:sp>
        <p:nvSpPr>
          <p:cNvPr id="5" name="Directed storytelling circle"/>
          <p:cNvSpPr/>
          <p:nvPr/>
        </p:nvSpPr>
        <p:spPr>
          <a:xfrm>
            <a:off x="777240" y="1828800"/>
            <a:ext cx="548640" cy="548640"/>
          </a:xfrm>
          <a:prstGeom prst="ellipse">
            <a:avLst/>
          </a:prstGeom>
          <a:solidFill>
            <a:schemeClr val="accent1"/>
          </a:solidFill>
          <a:ln w="12700">
            <a:solidFill>
              <a:schemeClr val="accent1"/>
            </a:solidFill>
            <a:prstDash val="solid"/>
          </a:ln>
        </p:spPr>
      </p:sp>
      <p:pic>
        <p:nvPicPr>
          <p:cNvPr id="6" name="Directed storytelling icon" descr="Directed storytelling">    </p:cNvPr>
          <p:cNvPicPr>
            <a:picLocks noChangeAspect="1"/>
          </p:cNvPicPr>
          <p:nvPr/>
        </p:nvPicPr>
        <p:blipFill>
          <a:blip r:embed="rId1"/>
          <a:stretch>
            <a:fillRect/>
          </a:stretch>
        </p:blipFill>
        <p:spPr>
          <a:xfrm>
            <a:off x="919886" y="1971446"/>
            <a:ext cx="263347" cy="263347"/>
          </a:xfrm>
          <a:prstGeom prst="rect">
            <a:avLst/>
          </a:prstGeom>
        </p:spPr>
      </p:pic>
      <p:sp>
        <p:nvSpPr>
          <p:cNvPr id="7" name="Directed storytelling name"/>
          <p:cNvSpPr txBox="1"/>
          <p:nvPr/>
        </p:nvSpPr>
        <p:spPr>
          <a:xfrm>
            <a:off x="146304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Directed storytelling</a:t>
            </a:r>
            <a:endParaRPr lang="en-US" sz="1800" dirty="0"/>
          </a:p>
        </p:txBody>
      </p:sp>
      <p:sp>
        <p:nvSpPr>
          <p:cNvPr id="8" name="Directed storytelling description"/>
          <p:cNvSpPr txBox="1"/>
          <p:nvPr/>
        </p:nvSpPr>
        <p:spPr>
          <a:xfrm>
            <a:off x="777240" y="2496312"/>
            <a:ext cx="3063240" cy="713232"/>
          </a:xfrm>
          <a:prstGeom prst="rect">
            <a:avLst/>
          </a:prstGeom>
          <a:noFill/>
          <a:ln/>
        </p:spPr>
        <p:txBody>
          <a:bodyPr wrap="square" lIns="0" tIns="0" rIns="0" bIns="0" rtlCol="0" anchor="t"/>
          <a:lstStyle/>
          <a:p>
            <a:pPr indent="0" marL="0">
              <a:buNone/>
            </a:pPr>
            <a:r>
              <a:rPr lang="en-US" sz="1500" dirty="0">
                <a:solidFill>
                  <a:schemeClr val="tx1"/>
                </a:solidFill>
              </a:rPr>
              <a:t>The missed blood test, the Sunday lunch, the “olá pai” scam</a:t>
            </a:r>
            <a:endParaRPr lang="en-US" sz="1500" dirty="0"/>
          </a:p>
        </p:txBody>
      </p:sp>
      <p:sp>
        <p:nvSpPr>
          <p:cNvPr id="9" name="Directed storytelling materials"/>
          <p:cNvSpPr txBox="1"/>
          <p:nvPr/>
        </p:nvSpPr>
        <p:spPr>
          <a:xfrm>
            <a:off x="777240" y="3246120"/>
            <a:ext cx="3063240" cy="301752"/>
          </a:xfrm>
          <a:prstGeom prst="rect">
            <a:avLst/>
          </a:prstGeom>
          <a:noFill/>
          <a:ln/>
        </p:spPr>
        <p:txBody>
          <a:bodyPr wrap="square" lIns="0" tIns="0" rIns="0" bIns="0" rtlCol="0" anchor="ctr"/>
          <a:lstStyle/>
          <a:p>
            <a:pPr indent="0" marL="0">
              <a:buNone/>
            </a:pPr>
            <a:r>
              <a:rPr lang="en-US" sz="1200" dirty="0">
                <a:solidFill>
                  <a:schemeClr val="accent5"/>
                </a:solidFill>
              </a:rPr>
              <a:t>Materials: interview guide, recorder</a:t>
            </a:r>
            <a:endParaRPr lang="en-US" sz="1200" dirty="0"/>
          </a:p>
        </p:txBody>
      </p:sp>
      <p:sp>
        <p:nvSpPr>
          <p:cNvPr id="10" name="Phone tour card"/>
          <p:cNvSpPr/>
          <p:nvPr/>
        </p:nvSpPr>
        <p:spPr>
          <a:xfrm>
            <a:off x="4343400" y="1600200"/>
            <a:ext cx="3520440" cy="2057400"/>
          </a:xfrm>
          <a:prstGeom prst="roundRect">
            <a:avLst>
              <a:gd name="adj" fmla="val 5333"/>
            </a:avLst>
          </a:prstGeom>
          <a:solidFill>
            <a:schemeClr val="bg2"/>
          </a:solidFill>
          <a:ln w="12700">
            <a:solidFill>
              <a:schemeClr val="bg2"/>
            </a:solidFill>
            <a:prstDash val="solid"/>
          </a:ln>
        </p:spPr>
      </p:sp>
      <p:sp>
        <p:nvSpPr>
          <p:cNvPr id="11" name="Phone tour circle"/>
          <p:cNvSpPr/>
          <p:nvPr/>
        </p:nvSpPr>
        <p:spPr>
          <a:xfrm>
            <a:off x="4572000" y="1828800"/>
            <a:ext cx="548640" cy="548640"/>
          </a:xfrm>
          <a:prstGeom prst="ellipse">
            <a:avLst/>
          </a:prstGeom>
          <a:solidFill>
            <a:schemeClr val="accent1"/>
          </a:solidFill>
          <a:ln w="12700">
            <a:solidFill>
              <a:schemeClr val="accent1"/>
            </a:solidFill>
            <a:prstDash val="solid"/>
          </a:ln>
        </p:spPr>
      </p:sp>
      <p:pic>
        <p:nvPicPr>
          <p:cNvPr id="12" name="Phone tour icon" descr="Phone tour">    </p:cNvPr>
          <p:cNvPicPr>
            <a:picLocks noChangeAspect="1"/>
          </p:cNvPicPr>
          <p:nvPr/>
        </p:nvPicPr>
        <p:blipFill>
          <a:blip r:embed="rId2"/>
          <a:stretch>
            <a:fillRect/>
          </a:stretch>
        </p:blipFill>
        <p:spPr>
          <a:xfrm>
            <a:off x="4714646" y="1971446"/>
            <a:ext cx="263347" cy="263347"/>
          </a:xfrm>
          <a:prstGeom prst="rect">
            <a:avLst/>
          </a:prstGeom>
        </p:spPr>
      </p:pic>
      <p:sp>
        <p:nvSpPr>
          <p:cNvPr id="13" name="Phone tour name"/>
          <p:cNvSpPr txBox="1"/>
          <p:nvPr/>
        </p:nvSpPr>
        <p:spPr>
          <a:xfrm>
            <a:off x="525780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Phone tour</a:t>
            </a:r>
            <a:endParaRPr lang="en-US" sz="1800" dirty="0"/>
          </a:p>
        </p:txBody>
      </p:sp>
      <p:sp>
        <p:nvSpPr>
          <p:cNvPr id="14" name="Phone tour description"/>
          <p:cNvSpPr txBox="1"/>
          <p:nvPr/>
        </p:nvSpPr>
        <p:spPr>
          <a:xfrm>
            <a:off x="4572000" y="2496312"/>
            <a:ext cx="3063240" cy="713232"/>
          </a:xfrm>
          <a:prstGeom prst="rect">
            <a:avLst/>
          </a:prstGeom>
          <a:noFill/>
          <a:ln/>
        </p:spPr>
        <p:txBody>
          <a:bodyPr wrap="square" lIns="0" tIns="0" rIns="0" bIns="0" rtlCol="0" anchor="t"/>
          <a:lstStyle/>
          <a:p>
            <a:pPr indent="0" marL="0">
              <a:buNone/>
            </a:pPr>
            <a:r>
              <a:rPr lang="en-US" sz="1500" dirty="0">
                <a:solidFill>
                  <a:schemeClr val="tx1"/>
                </a:solidFill>
              </a:rPr>
              <a:t>On the Samsung: taps too short, a pinch that shrank the text, the keyboard by accident</a:t>
            </a:r>
            <a:endParaRPr lang="en-US" sz="1500" dirty="0"/>
          </a:p>
        </p:txBody>
      </p:sp>
      <p:sp>
        <p:nvSpPr>
          <p:cNvPr id="15" name="Phone tour materials"/>
          <p:cNvSpPr txBox="1"/>
          <p:nvPr/>
        </p:nvSpPr>
        <p:spPr>
          <a:xfrm>
            <a:off x="4572000" y="3246120"/>
            <a:ext cx="3063240" cy="301752"/>
          </a:xfrm>
          <a:prstGeom prst="rect">
            <a:avLst/>
          </a:prstGeom>
          <a:noFill/>
          <a:ln/>
        </p:spPr>
        <p:txBody>
          <a:bodyPr wrap="square" lIns="0" tIns="0" rIns="0" bIns="0" rtlCol="0" anchor="ctr"/>
          <a:lstStyle/>
          <a:p>
            <a:pPr indent="0" marL="0">
              <a:buNone/>
            </a:pPr>
            <a:r>
              <a:rPr lang="en-US" sz="1200" dirty="0">
                <a:solidFill>
                  <a:schemeClr val="accent5"/>
                </a:solidFill>
              </a:rPr>
              <a:t>Materials: both his phones</a:t>
            </a:r>
            <a:endParaRPr lang="en-US" sz="1200" dirty="0"/>
          </a:p>
        </p:txBody>
      </p:sp>
      <p:sp>
        <p:nvSpPr>
          <p:cNvPr id="16" name="Communication map card"/>
          <p:cNvSpPr/>
          <p:nvPr/>
        </p:nvSpPr>
        <p:spPr>
          <a:xfrm>
            <a:off x="8138160" y="1600200"/>
            <a:ext cx="3520440" cy="2057400"/>
          </a:xfrm>
          <a:prstGeom prst="roundRect">
            <a:avLst>
              <a:gd name="adj" fmla="val 5333"/>
            </a:avLst>
          </a:prstGeom>
          <a:solidFill>
            <a:schemeClr val="bg2"/>
          </a:solidFill>
          <a:ln w="12700">
            <a:solidFill>
              <a:schemeClr val="bg2"/>
            </a:solidFill>
            <a:prstDash val="solid"/>
          </a:ln>
        </p:spPr>
      </p:sp>
      <p:sp>
        <p:nvSpPr>
          <p:cNvPr id="17" name="Communication map circle"/>
          <p:cNvSpPr/>
          <p:nvPr/>
        </p:nvSpPr>
        <p:spPr>
          <a:xfrm>
            <a:off x="8366760" y="1828800"/>
            <a:ext cx="548640" cy="548640"/>
          </a:xfrm>
          <a:prstGeom prst="ellipse">
            <a:avLst/>
          </a:prstGeom>
          <a:solidFill>
            <a:schemeClr val="accent1"/>
          </a:solidFill>
          <a:ln w="12700">
            <a:solidFill>
              <a:schemeClr val="accent1"/>
            </a:solidFill>
            <a:prstDash val="solid"/>
          </a:ln>
        </p:spPr>
      </p:sp>
      <p:pic>
        <p:nvPicPr>
          <p:cNvPr id="18" name="Communication map icon" descr="Communication map">    </p:cNvPr>
          <p:cNvPicPr>
            <a:picLocks noChangeAspect="1"/>
          </p:cNvPicPr>
          <p:nvPr/>
        </p:nvPicPr>
        <p:blipFill>
          <a:blip r:embed="rId3"/>
          <a:stretch>
            <a:fillRect/>
          </a:stretch>
        </p:blipFill>
        <p:spPr>
          <a:xfrm>
            <a:off x="8509406" y="1971446"/>
            <a:ext cx="263347" cy="263347"/>
          </a:xfrm>
          <a:prstGeom prst="rect">
            <a:avLst/>
          </a:prstGeom>
        </p:spPr>
      </p:pic>
      <p:sp>
        <p:nvSpPr>
          <p:cNvPr id="19" name="Communication map name"/>
          <p:cNvSpPr txBox="1"/>
          <p:nvPr/>
        </p:nvSpPr>
        <p:spPr>
          <a:xfrm>
            <a:off x="905256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Communication map</a:t>
            </a:r>
            <a:endParaRPr lang="en-US" sz="1800" dirty="0"/>
          </a:p>
        </p:txBody>
      </p:sp>
      <p:sp>
        <p:nvSpPr>
          <p:cNvPr id="20" name="Communication map description"/>
          <p:cNvSpPr txBox="1"/>
          <p:nvPr/>
        </p:nvSpPr>
        <p:spPr>
          <a:xfrm>
            <a:off x="8366760" y="2496312"/>
            <a:ext cx="3063240" cy="713232"/>
          </a:xfrm>
          <a:prstGeom prst="rect">
            <a:avLst/>
          </a:prstGeom>
          <a:noFill/>
          <a:ln/>
        </p:spPr>
        <p:txBody>
          <a:bodyPr wrap="square" lIns="0" tIns="0" rIns="0" bIns="0" rtlCol="0" anchor="t"/>
          <a:lstStyle/>
          <a:p>
            <a:pPr indent="0" marL="0">
              <a:buNone/>
            </a:pPr>
            <a:r>
              <a:rPr lang="en-US" sz="1500" dirty="0">
                <a:solidFill>
                  <a:schemeClr val="tx1"/>
                </a:solidFill>
              </a:rPr>
              <a:t>He placed every dot: calls with known names green, “the group” red</a:t>
            </a:r>
            <a:endParaRPr lang="en-US" sz="1500" dirty="0"/>
          </a:p>
        </p:txBody>
      </p:sp>
      <p:sp>
        <p:nvSpPr>
          <p:cNvPr id="21" name="Communication map materials"/>
          <p:cNvSpPr txBox="1"/>
          <p:nvPr/>
        </p:nvSpPr>
        <p:spPr>
          <a:xfrm>
            <a:off x="8366760" y="3246120"/>
            <a:ext cx="3063240" cy="301752"/>
          </a:xfrm>
          <a:prstGeom prst="rect">
            <a:avLst/>
          </a:prstGeom>
          <a:noFill/>
          <a:ln/>
        </p:spPr>
        <p:txBody>
          <a:bodyPr wrap="square" lIns="0" tIns="0" rIns="0" bIns="0" rtlCol="0" anchor="ctr"/>
          <a:lstStyle/>
          <a:p>
            <a:pPr indent="0" marL="0">
              <a:buNone/>
            </a:pPr>
            <a:r>
              <a:rPr lang="en-US" sz="1200" dirty="0">
                <a:solidFill>
                  <a:schemeClr val="accent5"/>
                </a:solidFill>
              </a:rPr>
              <a:t>Materials: A3 sheet, green and red dots</a:t>
            </a:r>
            <a:endParaRPr lang="en-US" sz="1200" dirty="0"/>
          </a:p>
        </p:txBody>
      </p:sp>
      <p:sp>
        <p:nvSpPr>
          <p:cNvPr id="22" name="Adapted label"/>
          <p:cNvSpPr txBox="1"/>
          <p:nvPr/>
        </p:nvSpPr>
        <p:spPr>
          <a:xfrm>
            <a:off x="548640" y="3931920"/>
            <a:ext cx="6949440" cy="365760"/>
          </a:xfrm>
          <a:prstGeom prst="rect">
            <a:avLst/>
          </a:prstGeom>
          <a:noFill/>
          <a:ln/>
        </p:spPr>
        <p:txBody>
          <a:bodyPr wrap="square" lIns="0" tIns="0" rIns="0" bIns="0" rtlCol="0" anchor="ctr"/>
          <a:lstStyle/>
          <a:p>
            <a:pPr indent="0" marL="0">
              <a:buNone/>
            </a:pPr>
            <a:r>
              <a:rPr lang="en-US" sz="1800" b="1" dirty="0">
                <a:solidFill>
                  <a:schemeClr val="tx1"/>
                </a:solidFill>
              </a:rPr>
              <a:t>How we adapted it to him</a:t>
            </a:r>
            <a:endParaRPr lang="en-US" sz="1800" dirty="0"/>
          </a:p>
        </p:txBody>
      </p:sp>
      <p:sp>
        <p:nvSpPr>
          <p:cNvPr id="23" name="Adaptations"/>
          <p:cNvSpPr txBox="1"/>
          <p:nvPr/>
        </p:nvSpPr>
        <p:spPr>
          <a:xfrm>
            <a:off x="548640" y="4389120"/>
            <a:ext cx="713232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He hosted a game of bisca before any question</a:t>
            </a:r>
            <a:endParaRPr lang="en-US" sz="1600" dirty="0"/>
          </a:p>
          <a:p>
            <a:pPr marL="342900" indent="-342900">
              <a:spcAft>
                <a:spcPts val="600"/>
              </a:spcAft>
              <a:buSzPct val="100000"/>
              <a:buChar char="•"/>
            </a:pPr>
            <a:r>
              <a:rPr lang="en-US" sz="1600" dirty="0">
                <a:solidFill>
                  <a:schemeClr val="tx1"/>
                </a:solidFill>
              </a:rPr>
              <a:t>We read the consent aloud, in plain Portuguese</a:t>
            </a:r>
            <a:endParaRPr lang="en-US" sz="1600" dirty="0"/>
          </a:p>
          <a:p>
            <a:pPr marL="342900" indent="-342900">
              <a:spcAft>
                <a:spcPts val="600"/>
              </a:spcAft>
              <a:buSzPct val="100000"/>
              <a:buChar char="•"/>
            </a:pPr>
            <a:r>
              <a:rPr lang="en-US" sz="1600" dirty="0">
                <a:solidFill>
                  <a:schemeClr val="tx1"/>
                </a:solidFill>
              </a:rPr>
              <a:t>One of us asked at a time; we said every step aloud when we touched his phone</a:t>
            </a:r>
            <a:endParaRPr lang="en-US" sz="1600" dirty="0"/>
          </a:p>
          <a:p>
            <a:pPr marL="342900" indent="-342900">
              <a:spcAft>
                <a:spcPts val="600"/>
              </a:spcAft>
              <a:buSzPct val="100000"/>
              <a:buChar char="•"/>
            </a:pPr>
            <a:r>
              <a:rPr lang="en-US" sz="1600" dirty="0">
                <a:solidFill>
                  <a:schemeClr val="tx1"/>
                </a:solidFill>
              </a:rPr>
              <a:t>He could refuse categories on the map, and did</a:t>
            </a:r>
            <a:endParaRPr lang="en-US" sz="1600" dirty="0"/>
          </a:p>
        </p:txBody>
      </p:sp>
      <p:sp>
        <p:nvSpPr>
          <p:cNvPr id="24" name="Map photo placeholder"/>
          <p:cNvSpPr/>
          <p:nvPr/>
        </p:nvSpPr>
        <p:spPr>
          <a:xfrm>
            <a:off x="8138160" y="3931920"/>
            <a:ext cx="3520440" cy="2103120"/>
          </a:xfrm>
          <a:prstGeom prst="roundRect">
            <a:avLst>
              <a:gd name="adj" fmla="val 5217"/>
            </a:avLst>
          </a:prstGeom>
          <a:solidFill>
            <a:schemeClr val="bg1"/>
          </a:solidFill>
          <a:ln w="19050">
            <a:solidFill>
              <a:schemeClr val="accent1"/>
            </a:solidFill>
            <a:prstDash val="dash"/>
          </a:ln>
        </p:spPr>
      </p:sp>
      <p:sp>
        <p:nvSpPr>
          <p:cNvPr id="25" name="Map photo placeholder text"/>
          <p:cNvSpPr txBox="1"/>
          <p:nvPr/>
        </p:nvSpPr>
        <p:spPr>
          <a:xfrm>
            <a:off x="8366760" y="4114800"/>
            <a:ext cx="3063240" cy="1737360"/>
          </a:xfrm>
          <a:prstGeom prst="rect">
            <a:avLst/>
          </a:prstGeom>
          <a:noFill/>
          <a:ln/>
        </p:spPr>
        <p:txBody>
          <a:bodyPr wrap="square" lIns="0" tIns="0" rIns="0" bIns="0" rtlCol="0" anchor="ctr"/>
          <a:lstStyle/>
          <a:p>
            <a:pPr algn="ctr" indent="0" marL="0">
              <a:buNone/>
            </a:pPr>
            <a:r>
              <a:rPr lang="en-US" sz="1500" i="1" dirty="0">
                <a:solidFill>
                  <a:schemeClr val="accent3"/>
                </a:solidFill>
              </a:rPr>
              <a:t>Insert photo: his communication map, initialled by him</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Session 1 · What we learned, in his words</a:t>
            </a:r>
            <a:endParaRPr lang="en-US" sz="3200" dirty="0"/>
          </a:p>
        </p:txBody>
      </p:sp>
      <p:sp>
        <p:nvSpPr>
          <p:cNvPr id="3" name="The smartphone confuses him card"/>
          <p:cNvSpPr/>
          <p:nvPr/>
        </p:nvSpPr>
        <p:spPr>
          <a:xfrm>
            <a:off x="548640" y="1371600"/>
            <a:ext cx="5394960" cy="2148840"/>
          </a:xfrm>
          <a:prstGeom prst="roundRect">
            <a:avLst>
              <a:gd name="adj" fmla="val 5106"/>
            </a:avLst>
          </a:prstGeom>
          <a:solidFill>
            <a:schemeClr val="bg2"/>
          </a:solidFill>
          <a:ln w="12700">
            <a:solidFill>
              <a:schemeClr val="bg2"/>
            </a:solidFill>
            <a:prstDash val="solid"/>
          </a:ln>
        </p:spPr>
      </p:sp>
      <p:sp>
        <p:nvSpPr>
          <p:cNvPr id="4" name="The smartphone confuses him label"/>
          <p:cNvSpPr txBox="1"/>
          <p:nvPr/>
        </p:nvSpPr>
        <p:spPr>
          <a:xfrm>
            <a:off x="868680" y="1627632"/>
            <a:ext cx="47548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THE SMARTPHONE CONFUSES HIM</a:t>
            </a:r>
            <a:endParaRPr lang="en-US" sz="1200" dirty="0"/>
          </a:p>
        </p:txBody>
      </p:sp>
      <p:sp>
        <p:nvSpPr>
          <p:cNvPr id="5" name="The smartphone confuses him quote"/>
          <p:cNvSpPr txBox="1"/>
          <p:nvPr/>
        </p:nvSpPr>
        <p:spPr>
          <a:xfrm>
            <a:off x="868680" y="2011680"/>
            <a:ext cx="4754880" cy="132588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“I broke the letters. Put them back. Do not laugh.”</a:t>
            </a:r>
            <a:endParaRPr lang="en-US" sz="2400" dirty="0"/>
          </a:p>
        </p:txBody>
      </p:sp>
      <p:sp>
        <p:nvSpPr>
          <p:cNvPr id="6" name="But he wants what is inside it card"/>
          <p:cNvSpPr/>
          <p:nvPr/>
        </p:nvSpPr>
        <p:spPr>
          <a:xfrm>
            <a:off x="6217920" y="1371600"/>
            <a:ext cx="5394960" cy="2148840"/>
          </a:xfrm>
          <a:prstGeom prst="roundRect">
            <a:avLst>
              <a:gd name="adj" fmla="val 5106"/>
            </a:avLst>
          </a:prstGeom>
          <a:solidFill>
            <a:schemeClr val="bg2"/>
          </a:solidFill>
          <a:ln w="12700">
            <a:solidFill>
              <a:schemeClr val="bg2"/>
            </a:solidFill>
            <a:prstDash val="solid"/>
          </a:ln>
        </p:spPr>
      </p:sp>
      <p:sp>
        <p:nvSpPr>
          <p:cNvPr id="7" name="But he wants what is inside it label"/>
          <p:cNvSpPr txBox="1"/>
          <p:nvPr/>
        </p:nvSpPr>
        <p:spPr>
          <a:xfrm>
            <a:off x="6537960" y="1627632"/>
            <a:ext cx="47548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BUT HE WANTS WHAT IS INSIDE IT</a:t>
            </a:r>
            <a:endParaRPr lang="en-US" sz="1200" dirty="0"/>
          </a:p>
        </p:txBody>
      </p:sp>
      <p:sp>
        <p:nvSpPr>
          <p:cNvPr id="8" name="But he wants what is inside it quote"/>
          <p:cNvSpPr txBox="1"/>
          <p:nvPr/>
        </p:nvSpPr>
        <p:spPr>
          <a:xfrm>
            <a:off x="6537960" y="2011680"/>
            <a:ext cx="4754880" cy="132588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“[My sister] could refuse. I cannot refuse, because the refusal includes the baby.”</a:t>
            </a:r>
            <a:endParaRPr lang="en-US" sz="2400" dirty="0"/>
          </a:p>
        </p:txBody>
      </p:sp>
      <p:sp>
        <p:nvSpPr>
          <p:cNvPr id="9" name="The news is in the group card"/>
          <p:cNvSpPr/>
          <p:nvPr/>
        </p:nvSpPr>
        <p:spPr>
          <a:xfrm>
            <a:off x="548640" y="3749040"/>
            <a:ext cx="5394960" cy="2148840"/>
          </a:xfrm>
          <a:prstGeom prst="roundRect">
            <a:avLst>
              <a:gd name="adj" fmla="val 5106"/>
            </a:avLst>
          </a:prstGeom>
          <a:solidFill>
            <a:schemeClr val="bg2"/>
          </a:solidFill>
          <a:ln w="12700">
            <a:solidFill>
              <a:schemeClr val="bg2"/>
            </a:solidFill>
            <a:prstDash val="solid"/>
          </a:ln>
        </p:spPr>
      </p:sp>
      <p:sp>
        <p:nvSpPr>
          <p:cNvPr id="10" name="The news is in the group label"/>
          <p:cNvSpPr txBox="1"/>
          <p:nvPr/>
        </p:nvSpPr>
        <p:spPr>
          <a:xfrm>
            <a:off x="868680" y="4005072"/>
            <a:ext cx="47548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THE NEWS IS IN THE GROUP</a:t>
            </a:r>
            <a:endParaRPr lang="en-US" sz="1200" dirty="0"/>
          </a:p>
        </p:txBody>
      </p:sp>
      <p:sp>
        <p:nvSpPr>
          <p:cNvPr id="11" name="The news is in the group quote"/>
          <p:cNvSpPr txBox="1"/>
          <p:nvPr/>
        </p:nvSpPr>
        <p:spPr>
          <a:xfrm>
            <a:off x="868680" y="4389120"/>
            <a:ext cx="4754880" cy="132588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“She wrote Pai in a conversation with twelve people, and she thought that was telling me.”</a:t>
            </a:r>
            <a:endParaRPr lang="en-US" sz="2400" dirty="0"/>
          </a:p>
        </p:txBody>
      </p:sp>
      <p:sp>
        <p:nvSpPr>
          <p:cNvPr id="12" name="The name first card"/>
          <p:cNvSpPr/>
          <p:nvPr/>
        </p:nvSpPr>
        <p:spPr>
          <a:xfrm>
            <a:off x="6217920" y="3749040"/>
            <a:ext cx="5394960" cy="2148840"/>
          </a:xfrm>
          <a:prstGeom prst="roundRect">
            <a:avLst>
              <a:gd name="adj" fmla="val 5106"/>
            </a:avLst>
          </a:prstGeom>
          <a:solidFill>
            <a:schemeClr val="bg2"/>
          </a:solidFill>
          <a:ln w="12700">
            <a:solidFill>
              <a:schemeClr val="bg2"/>
            </a:solidFill>
            <a:prstDash val="solid"/>
          </a:ln>
        </p:spPr>
      </p:sp>
      <p:sp>
        <p:nvSpPr>
          <p:cNvPr id="13" name="The name first label"/>
          <p:cNvSpPr txBox="1"/>
          <p:nvPr/>
        </p:nvSpPr>
        <p:spPr>
          <a:xfrm>
            <a:off x="6537960" y="4005072"/>
            <a:ext cx="47548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THE NAME FIRST</a:t>
            </a:r>
            <a:endParaRPr lang="en-US" sz="1200" dirty="0"/>
          </a:p>
        </p:txBody>
      </p:sp>
      <p:sp>
        <p:nvSpPr>
          <p:cNvPr id="14" name="The name first quote"/>
          <p:cNvSpPr txBox="1"/>
          <p:nvPr/>
        </p:nvSpPr>
        <p:spPr>
          <a:xfrm>
            <a:off x="6537960" y="4389120"/>
            <a:ext cx="4754880" cy="132588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“I still want to know the name before I see the child.”</a:t>
            </a:r>
            <a:endParaRPr lang="en-US" sz="2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Session 2 · The smartphone features he wants</a:t>
            </a:r>
            <a:endParaRPr lang="en-US" sz="3200" dirty="0"/>
          </a:p>
        </p:txBody>
      </p:sp>
      <p:sp>
        <p:nvSpPr>
          <p:cNvPr id="3" name="Session 2 meta"/>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500" i="1" dirty="0">
                <a:solidFill>
                  <a:schemeClr val="accent3"/>
                </a:solidFill>
              </a:rPr>
              <a:t>[Date]</a:t>
            </a:r>
            <a:pPr indent="0" marL="0">
              <a:buNone/>
            </a:pPr>
            <a:r>
              <a:rPr lang="en-US" sz="1500" dirty="0">
                <a:solidFill>
                  <a:schemeClr val="accent5"/>
                </a:solidFill>
              </a:rPr>
              <a:t> · his kitchen · about 70 minutes · Develop · he sorted 16 cards and wrote 2 of his own</a:t>
            </a:r>
            <a:endParaRPr lang="en-US" sz="1500" dirty="0"/>
          </a:p>
        </p:txBody>
      </p:sp>
      <p:sp>
        <p:nvSpPr>
          <p:cNvPr id="4" name="PRECISO · NEED card"/>
          <p:cNvSpPr/>
          <p:nvPr/>
        </p:nvSpPr>
        <p:spPr>
          <a:xfrm>
            <a:off x="548640" y="1600200"/>
            <a:ext cx="3520440" cy="4434840"/>
          </a:xfrm>
          <a:prstGeom prst="roundRect">
            <a:avLst>
              <a:gd name="adj" fmla="val 3117"/>
            </a:avLst>
          </a:prstGeom>
          <a:solidFill>
            <a:schemeClr val="bg2"/>
          </a:solidFill>
          <a:ln w="12700">
            <a:solidFill>
              <a:schemeClr val="bg2"/>
            </a:solidFill>
            <a:prstDash val="solid"/>
          </a:ln>
        </p:spPr>
      </p:sp>
      <p:sp>
        <p:nvSpPr>
          <p:cNvPr id="5" name="PRECISO · NEED label"/>
          <p:cNvSpPr txBox="1"/>
          <p:nvPr/>
        </p:nvSpPr>
        <p:spPr>
          <a:xfrm>
            <a:off x="777240" y="1801368"/>
            <a:ext cx="3063240" cy="320040"/>
          </a:xfrm>
          <a:prstGeom prst="rect">
            <a:avLst/>
          </a:prstGeom>
          <a:noFill/>
          <a:ln/>
        </p:spPr>
        <p:txBody>
          <a:bodyPr wrap="square" lIns="0" tIns="0" rIns="0" bIns="0" rtlCol="0" anchor="ctr"/>
          <a:lstStyle/>
          <a:p>
            <a:pPr indent="0" marL="0">
              <a:buNone/>
            </a:pPr>
            <a:r>
              <a:rPr lang="en-US" sz="1400" b="1" spc="100" kern="0" dirty="0">
                <a:solidFill>
                  <a:schemeClr val="accent2"/>
                </a:solidFill>
              </a:rPr>
              <a:t>PRECISO · NEED</a:t>
            </a:r>
            <a:endParaRPr lang="en-US" sz="1400" dirty="0"/>
          </a:p>
        </p:txBody>
      </p:sp>
      <p:sp>
        <p:nvSpPr>
          <p:cNvPr id="6" name="PRECISO · NEED items"/>
          <p:cNvSpPr txBox="1"/>
          <p:nvPr/>
        </p:nvSpPr>
        <p:spPr>
          <a:xfrm>
            <a:off x="777240" y="2258568"/>
            <a:ext cx="3063240" cy="3246120"/>
          </a:xfrm>
          <a:prstGeom prst="rect">
            <a:avLst/>
          </a:prstGeom>
          <a:noFill/>
          <a:ln/>
        </p:spPr>
        <p:txBody>
          <a:bodyPr wrap="square" lIns="0" tIns="0" rIns="0" bIns="0" rtlCol="0" anchor="t"/>
          <a:lstStyle/>
          <a:p>
            <a:pPr marL="342900" indent="-342900">
              <a:spcAft>
                <a:spcPts val="500"/>
              </a:spcAft>
              <a:buSzPct val="100000"/>
              <a:buChar char="•"/>
            </a:pPr>
            <a:r>
              <a:rPr lang="en-US" sz="1500" b="1" dirty="0">
                <a:solidFill>
                  <a:schemeClr val="accent3"/>
                </a:solidFill>
              </a:rPr>
              <a:t>The name before the photo*</a:t>
            </a:r>
            <a:endParaRPr lang="en-US" sz="1500" dirty="0"/>
          </a:p>
          <a:p>
            <a:pPr marL="342900" indent="-342900">
              <a:spcAft>
                <a:spcPts val="500"/>
              </a:spcAft>
              <a:buSzPct val="100000"/>
              <a:buChar char="•"/>
            </a:pPr>
            <a:r>
              <a:rPr lang="en-US" sz="1500" b="1" dirty="0">
                <a:solidFill>
                  <a:schemeClr val="accent3"/>
                </a:solidFill>
              </a:rPr>
              <a:t>Only people my daughter saved*</a:t>
            </a:r>
            <a:endParaRPr lang="en-US" sz="1500" dirty="0"/>
          </a:p>
          <a:p>
            <a:pPr marL="342900" indent="-342900">
              <a:spcAft>
                <a:spcPts val="500"/>
              </a:spcAft>
              <a:buSzPct val="100000"/>
              <a:buChar char="•"/>
            </a:pPr>
            <a:r>
              <a:rPr lang="en-US" sz="1500" dirty="0">
                <a:solidFill>
                  <a:schemeClr val="tx1"/>
                </a:solidFill>
              </a:rPr>
              <a:t>See family photos</a:t>
            </a:r>
            <a:endParaRPr lang="en-US" sz="1500" dirty="0"/>
          </a:p>
          <a:p>
            <a:pPr marL="342900" indent="-342900">
              <a:spcAft>
                <a:spcPts val="500"/>
              </a:spcAft>
              <a:buSzPct val="100000"/>
              <a:buChar char="•"/>
            </a:pPr>
            <a:r>
              <a:rPr lang="en-US" sz="1500" dirty="0">
                <a:solidFill>
                  <a:schemeClr val="tx1"/>
                </a:solidFill>
              </a:rPr>
              <a:t>Hear messages read aloud</a:t>
            </a:r>
            <a:endParaRPr lang="en-US" sz="1500" dirty="0"/>
          </a:p>
          <a:p>
            <a:pPr marL="342900" indent="-342900">
              <a:spcAft>
                <a:spcPts val="500"/>
              </a:spcAft>
              <a:buSzPct val="100000"/>
              <a:buChar char="•"/>
            </a:pPr>
            <a:r>
              <a:rPr lang="en-US" sz="1500" dirty="0">
                <a:solidFill>
                  <a:schemeClr val="tx1"/>
                </a:solidFill>
              </a:rPr>
              <a:t>Know if a message is a scam</a:t>
            </a:r>
            <a:endParaRPr lang="en-US" sz="1500" dirty="0"/>
          </a:p>
          <a:p>
            <a:pPr marL="342900" indent="-342900">
              <a:spcAft>
                <a:spcPts val="500"/>
              </a:spcAft>
              <a:buSzPct val="100000"/>
              <a:buChar char="•"/>
            </a:pPr>
            <a:r>
              <a:rPr lang="en-US" sz="1500" dirty="0">
                <a:solidFill>
                  <a:schemeClr val="tx1"/>
                </a:solidFill>
              </a:rPr>
              <a:t>Call someone, if as easy as the Nokia</a:t>
            </a:r>
            <a:endParaRPr lang="en-US" sz="1500" dirty="0"/>
          </a:p>
          <a:p>
            <a:pPr marL="342900" indent="-342900">
              <a:spcAft>
                <a:spcPts val="500"/>
              </a:spcAft>
              <a:buSzPct val="100000"/>
              <a:buChar char="•"/>
            </a:pPr>
            <a:r>
              <a:rPr lang="en-US" sz="1500" dirty="0">
                <a:solidFill>
                  <a:schemeClr val="tx1"/>
                </a:solidFill>
              </a:rPr>
              <a:t>Answer calls, same condition</a:t>
            </a:r>
            <a:endParaRPr lang="en-US" sz="1500" dirty="0"/>
          </a:p>
          <a:p>
            <a:pPr marL="342900" indent="-342900">
              <a:spcAft>
                <a:spcPts val="500"/>
              </a:spcAft>
              <a:buSzPct val="100000"/>
              <a:buChar char="•"/>
            </a:pPr>
            <a:r>
              <a:rPr lang="en-US" sz="1500" dirty="0">
                <a:solidFill>
                  <a:schemeClr val="tx1"/>
                </a:solidFill>
              </a:rPr>
              <a:t>Send a message by speaking, short phrases only</a:t>
            </a:r>
            <a:endParaRPr lang="en-US" sz="1500" dirty="0"/>
          </a:p>
        </p:txBody>
      </p:sp>
      <p:sp>
        <p:nvSpPr>
          <p:cNvPr id="7" name="GOSTAVA · WOULD LIKE card"/>
          <p:cNvSpPr/>
          <p:nvPr/>
        </p:nvSpPr>
        <p:spPr>
          <a:xfrm>
            <a:off x="4343400" y="1600200"/>
            <a:ext cx="3520440" cy="4434840"/>
          </a:xfrm>
          <a:prstGeom prst="roundRect">
            <a:avLst>
              <a:gd name="adj" fmla="val 3117"/>
            </a:avLst>
          </a:prstGeom>
          <a:solidFill>
            <a:schemeClr val="bg2"/>
          </a:solidFill>
          <a:ln w="12700">
            <a:solidFill>
              <a:schemeClr val="bg2"/>
            </a:solidFill>
            <a:prstDash val="solid"/>
          </a:ln>
        </p:spPr>
      </p:sp>
      <p:sp>
        <p:nvSpPr>
          <p:cNvPr id="8" name="GOSTAVA · WOULD LIKE label"/>
          <p:cNvSpPr txBox="1"/>
          <p:nvPr/>
        </p:nvSpPr>
        <p:spPr>
          <a:xfrm>
            <a:off x="4572000" y="1801368"/>
            <a:ext cx="3063240" cy="320040"/>
          </a:xfrm>
          <a:prstGeom prst="rect">
            <a:avLst/>
          </a:prstGeom>
          <a:noFill/>
          <a:ln/>
        </p:spPr>
        <p:txBody>
          <a:bodyPr wrap="square" lIns="0" tIns="0" rIns="0" bIns="0" rtlCol="0" anchor="ctr"/>
          <a:lstStyle/>
          <a:p>
            <a:pPr indent="0" marL="0">
              <a:buNone/>
            </a:pPr>
            <a:r>
              <a:rPr lang="en-US" sz="1400" b="1" spc="100" kern="0" dirty="0">
                <a:solidFill>
                  <a:schemeClr val="accent3"/>
                </a:solidFill>
              </a:rPr>
              <a:t>GOSTAVA · WOULD LIKE</a:t>
            </a:r>
            <a:endParaRPr lang="en-US" sz="1400" dirty="0"/>
          </a:p>
        </p:txBody>
      </p:sp>
      <p:sp>
        <p:nvSpPr>
          <p:cNvPr id="9" name="GOSTAVA · WOULD LIKE items"/>
          <p:cNvSpPr txBox="1"/>
          <p:nvPr/>
        </p:nvSpPr>
        <p:spPr>
          <a:xfrm>
            <a:off x="4572000" y="2258568"/>
            <a:ext cx="3063240" cy="32461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Appointment reminders</a:t>
            </a:r>
            <a:endParaRPr lang="en-US" sz="1500" dirty="0"/>
          </a:p>
          <a:p>
            <a:pPr marL="342900" indent="-342900">
              <a:spcAft>
                <a:spcPts val="500"/>
              </a:spcAft>
              <a:buSzPct val="100000"/>
              <a:buChar char="•"/>
            </a:pPr>
            <a:r>
              <a:rPr lang="en-US" sz="1500" dirty="0">
                <a:solidFill>
                  <a:schemeClr val="tx1"/>
                </a:solidFill>
              </a:rPr>
              <a:t>Emergency help, only to call his daughter</a:t>
            </a:r>
            <a:endParaRPr lang="en-US" sz="1500" dirty="0"/>
          </a:p>
          <a:p>
            <a:pPr marL="342900" indent="-342900">
              <a:spcAft>
                <a:spcPts val="500"/>
              </a:spcAft>
              <a:buSzPct val="100000"/>
              <a:buChar char="•"/>
            </a:pPr>
            <a:r>
              <a:rPr lang="en-US" sz="1500" dirty="0">
                <a:solidFill>
                  <a:schemeClr val="tx1"/>
                </a:solidFill>
              </a:rPr>
              <a:t>Video call, only the baby, his face hidden</a:t>
            </a:r>
            <a:endParaRPr lang="en-US" sz="1500" dirty="0"/>
          </a:p>
          <a:p>
            <a:pPr marL="342900" indent="-342900">
              <a:spcAft>
                <a:spcPts val="500"/>
              </a:spcAft>
              <a:buSzPct val="100000"/>
              <a:buChar char="•"/>
            </a:pPr>
            <a:r>
              <a:rPr lang="en-US" sz="1500" dirty="0">
                <a:solidFill>
                  <a:schemeClr val="tx1"/>
                </a:solidFill>
              </a:rPr>
              <a:t>Time and date</a:t>
            </a:r>
            <a:endParaRPr lang="en-US" sz="1500" dirty="0"/>
          </a:p>
        </p:txBody>
      </p:sp>
      <p:sp>
        <p:nvSpPr>
          <p:cNvPr id="10" name="NÃO PRECISO · DON’T NEED card"/>
          <p:cNvSpPr/>
          <p:nvPr/>
        </p:nvSpPr>
        <p:spPr>
          <a:xfrm>
            <a:off x="8138160" y="1600200"/>
            <a:ext cx="3520440" cy="4434840"/>
          </a:xfrm>
          <a:prstGeom prst="roundRect">
            <a:avLst>
              <a:gd name="adj" fmla="val 3117"/>
            </a:avLst>
          </a:prstGeom>
          <a:solidFill>
            <a:schemeClr val="bg2"/>
          </a:solidFill>
          <a:ln w="12700">
            <a:solidFill>
              <a:schemeClr val="bg2"/>
            </a:solidFill>
            <a:prstDash val="solid"/>
          </a:ln>
        </p:spPr>
      </p:sp>
      <p:sp>
        <p:nvSpPr>
          <p:cNvPr id="11" name="NÃO PRECISO · DON’T NEED label"/>
          <p:cNvSpPr txBox="1"/>
          <p:nvPr/>
        </p:nvSpPr>
        <p:spPr>
          <a:xfrm>
            <a:off x="8366760" y="1801368"/>
            <a:ext cx="3063240" cy="320040"/>
          </a:xfrm>
          <a:prstGeom prst="rect">
            <a:avLst/>
          </a:prstGeom>
          <a:noFill/>
          <a:ln/>
        </p:spPr>
        <p:txBody>
          <a:bodyPr wrap="square" lIns="0" tIns="0" rIns="0" bIns="0" rtlCol="0" anchor="ctr"/>
          <a:lstStyle/>
          <a:p>
            <a:pPr indent="0" marL="0">
              <a:buNone/>
            </a:pPr>
            <a:r>
              <a:rPr lang="en-US" sz="1400" b="1" spc="100" kern="0" dirty="0">
                <a:solidFill>
                  <a:schemeClr val="accent5"/>
                </a:solidFill>
              </a:rPr>
              <a:t>NÃO PRECISO · DON’T NEED</a:t>
            </a:r>
            <a:endParaRPr lang="en-US" sz="1400" dirty="0"/>
          </a:p>
        </p:txBody>
      </p:sp>
      <p:sp>
        <p:nvSpPr>
          <p:cNvPr id="12" name="NÃO PRECISO · DON’T NEED items"/>
          <p:cNvSpPr txBox="1"/>
          <p:nvPr/>
        </p:nvSpPr>
        <p:spPr>
          <a:xfrm>
            <a:off x="8366760" y="2258568"/>
            <a:ext cx="3063240" cy="32461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Medication reminders</a:t>
            </a:r>
            <a:endParaRPr lang="en-US" sz="1500" dirty="0"/>
          </a:p>
          <a:p>
            <a:pPr marL="342900" indent="-342900">
              <a:spcAft>
                <a:spcPts val="500"/>
              </a:spcAft>
              <a:buSzPct val="100000"/>
              <a:buChar char="•"/>
            </a:pPr>
            <a:r>
              <a:rPr lang="en-US" sz="1500" dirty="0">
                <a:solidFill>
                  <a:schemeClr val="tx1"/>
                </a:solidFill>
              </a:rPr>
              <a:t>Torch</a:t>
            </a:r>
            <a:endParaRPr lang="en-US" sz="1500" dirty="0"/>
          </a:p>
          <a:p>
            <a:pPr marL="342900" indent="-342900">
              <a:spcAft>
                <a:spcPts val="500"/>
              </a:spcAft>
              <a:buSzPct val="100000"/>
              <a:buChar char="•"/>
            </a:pPr>
            <a:r>
              <a:rPr lang="en-US" sz="1500" dirty="0">
                <a:solidFill>
                  <a:schemeClr val="tx1"/>
                </a:solidFill>
              </a:rPr>
              <a:t>Radio: his late wife’s station stays in the kitchen</a:t>
            </a:r>
            <a:endParaRPr lang="en-US" sz="1500" dirty="0"/>
          </a:p>
          <a:p>
            <a:pPr marL="342900" indent="-342900">
              <a:spcAft>
                <a:spcPts val="500"/>
              </a:spcAft>
              <a:buSzPct val="100000"/>
              <a:buChar char="•"/>
            </a:pPr>
            <a:r>
              <a:rPr lang="en-US" sz="1500" dirty="0">
                <a:solidFill>
                  <a:schemeClr val="tx1"/>
                </a:solidFill>
              </a:rPr>
              <a:t>Take photos</a:t>
            </a:r>
            <a:endParaRPr lang="en-US" sz="1500" dirty="0"/>
          </a:p>
          <a:p>
            <a:pPr marL="342900" indent="-342900">
              <a:spcAft>
                <a:spcPts val="500"/>
              </a:spcAft>
              <a:buSzPct val="100000"/>
              <a:buChar char="•"/>
            </a:pPr>
            <a:r>
              <a:rPr lang="en-US" sz="1500" dirty="0">
                <a:solidFill>
                  <a:schemeClr val="tx1"/>
                </a:solidFill>
              </a:rPr>
              <a:t>Weather</a:t>
            </a:r>
            <a:endParaRPr lang="en-US" sz="1500" dirty="0"/>
          </a:p>
          <a:p>
            <a:pPr marL="342900" indent="-342900">
              <a:spcAft>
                <a:spcPts val="500"/>
              </a:spcAft>
              <a:buSzPct val="100000"/>
              <a:buChar char="•"/>
            </a:pPr>
            <a:r>
              <a:rPr lang="en-US" sz="1500" dirty="0">
                <a:solidFill>
                  <a:schemeClr val="tx1"/>
                </a:solidFill>
              </a:rPr>
              <a:t>Magnifier</a:t>
            </a:r>
            <a:endParaRPr lang="en-US" sz="1500" dirty="0"/>
          </a:p>
        </p:txBody>
      </p:sp>
      <p:sp>
        <p:nvSpPr>
          <p:cNvPr id="13" name="Own cards note"/>
          <p:cNvSpPr txBox="1"/>
          <p:nvPr/>
        </p:nvSpPr>
        <p:spPr>
          <a:xfrm>
            <a:off x="777240" y="5623560"/>
            <a:ext cx="3063240" cy="274320"/>
          </a:xfrm>
          <a:prstGeom prst="rect">
            <a:avLst/>
          </a:prstGeom>
          <a:noFill/>
          <a:ln/>
        </p:spPr>
        <p:txBody>
          <a:bodyPr wrap="square" lIns="0" tIns="0" rIns="0" bIns="0" rtlCol="0" anchor="ctr"/>
          <a:lstStyle/>
          <a:p>
            <a:pPr indent="0" marL="0">
              <a:buNone/>
            </a:pPr>
            <a:r>
              <a:rPr lang="en-US" sz="1200" i="1" dirty="0">
                <a:solidFill>
                  <a:schemeClr val="accent3"/>
                </a:solidFill>
              </a:rPr>
              <a:t>* cards he wrote himself</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Session 2 · The form he chose</a:t>
            </a:r>
            <a:endParaRPr lang="en-US" sz="3200" dirty="0"/>
          </a:p>
        </p:txBody>
      </p:sp>
      <p:sp>
        <p:nvSpPr>
          <p:cNvPr id="3" name="Form meta"/>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500" dirty="0">
                <a:solidFill>
                  <a:schemeClr val="accent5"/>
                </a:solidFill>
              </a:rPr>
              <a:t>He held three empty 3D-printed mock-ups to his ear, flat on the table and in his pocket</a:t>
            </a:r>
            <a:endParaRPr lang="en-US" sz="1500" dirty="0"/>
          </a:p>
        </p:txBody>
      </p:sp>
      <p:sp>
        <p:nvSpPr>
          <p:cNvPr id="4" name="Bumper body"/>
          <p:cNvSpPr/>
          <p:nvPr/>
        </p:nvSpPr>
        <p:spPr>
          <a:xfrm>
            <a:off x="1741932" y="1737360"/>
            <a:ext cx="1133856" cy="2011680"/>
          </a:xfrm>
          <a:prstGeom prst="roundRect">
            <a:avLst>
              <a:gd name="adj" fmla="val 12097"/>
            </a:avLst>
          </a:prstGeom>
          <a:solidFill>
            <a:schemeClr val="bg1"/>
          </a:solidFill>
          <a:ln w="19050">
            <a:solidFill>
              <a:schemeClr val="tx1"/>
            </a:solidFill>
            <a:prstDash val="solid"/>
          </a:ln>
        </p:spPr>
      </p:sp>
      <p:sp>
        <p:nvSpPr>
          <p:cNvPr id="5" name="Bumper icon"/>
          <p:cNvSpPr/>
          <p:nvPr/>
        </p:nvSpPr>
        <p:spPr>
          <a:xfrm>
            <a:off x="1897380" y="1920240"/>
            <a:ext cx="201168" cy="201168"/>
          </a:xfrm>
          <a:prstGeom prst="roundRect">
            <a:avLst>
              <a:gd name="adj" fmla="val 18182"/>
            </a:avLst>
          </a:prstGeom>
          <a:solidFill>
            <a:schemeClr val="accent6"/>
          </a:solidFill>
          <a:ln w="12700">
            <a:solidFill>
              <a:schemeClr val="accent6"/>
            </a:solidFill>
            <a:prstDash val="solid"/>
          </a:ln>
        </p:spPr>
      </p:sp>
      <p:sp>
        <p:nvSpPr>
          <p:cNvPr id="6" name="Bumper icon"/>
          <p:cNvSpPr/>
          <p:nvPr/>
        </p:nvSpPr>
        <p:spPr>
          <a:xfrm>
            <a:off x="2189988" y="1920240"/>
            <a:ext cx="201168" cy="201168"/>
          </a:xfrm>
          <a:prstGeom prst="roundRect">
            <a:avLst>
              <a:gd name="adj" fmla="val 18182"/>
            </a:avLst>
          </a:prstGeom>
          <a:solidFill>
            <a:schemeClr val="accent6"/>
          </a:solidFill>
          <a:ln w="12700">
            <a:solidFill>
              <a:schemeClr val="accent6"/>
            </a:solidFill>
            <a:prstDash val="solid"/>
          </a:ln>
        </p:spPr>
      </p:sp>
      <p:sp>
        <p:nvSpPr>
          <p:cNvPr id="7" name="Bumper icon"/>
          <p:cNvSpPr/>
          <p:nvPr/>
        </p:nvSpPr>
        <p:spPr>
          <a:xfrm>
            <a:off x="2482596" y="1920240"/>
            <a:ext cx="201168" cy="201168"/>
          </a:xfrm>
          <a:prstGeom prst="roundRect">
            <a:avLst>
              <a:gd name="adj" fmla="val 18182"/>
            </a:avLst>
          </a:prstGeom>
          <a:solidFill>
            <a:schemeClr val="accent6"/>
          </a:solidFill>
          <a:ln w="12700">
            <a:solidFill>
              <a:schemeClr val="accent6"/>
            </a:solidFill>
            <a:prstDash val="solid"/>
          </a:ln>
        </p:spPr>
      </p:sp>
      <p:sp>
        <p:nvSpPr>
          <p:cNvPr id="8" name="Bumper icon"/>
          <p:cNvSpPr/>
          <p:nvPr/>
        </p:nvSpPr>
        <p:spPr>
          <a:xfrm>
            <a:off x="1897380" y="2212848"/>
            <a:ext cx="201168" cy="201168"/>
          </a:xfrm>
          <a:prstGeom prst="roundRect">
            <a:avLst>
              <a:gd name="adj" fmla="val 18182"/>
            </a:avLst>
          </a:prstGeom>
          <a:solidFill>
            <a:schemeClr val="accent6"/>
          </a:solidFill>
          <a:ln w="12700">
            <a:solidFill>
              <a:schemeClr val="accent6"/>
            </a:solidFill>
            <a:prstDash val="solid"/>
          </a:ln>
        </p:spPr>
      </p:sp>
      <p:sp>
        <p:nvSpPr>
          <p:cNvPr id="9" name="Bumper icon"/>
          <p:cNvSpPr/>
          <p:nvPr/>
        </p:nvSpPr>
        <p:spPr>
          <a:xfrm>
            <a:off x="2189988" y="2212848"/>
            <a:ext cx="201168" cy="201168"/>
          </a:xfrm>
          <a:prstGeom prst="roundRect">
            <a:avLst>
              <a:gd name="adj" fmla="val 18182"/>
            </a:avLst>
          </a:prstGeom>
          <a:solidFill>
            <a:schemeClr val="accent6"/>
          </a:solidFill>
          <a:ln w="12700">
            <a:solidFill>
              <a:schemeClr val="accent6"/>
            </a:solidFill>
            <a:prstDash val="solid"/>
          </a:ln>
        </p:spPr>
      </p:sp>
      <p:sp>
        <p:nvSpPr>
          <p:cNvPr id="10" name="Bumper icon"/>
          <p:cNvSpPr/>
          <p:nvPr/>
        </p:nvSpPr>
        <p:spPr>
          <a:xfrm>
            <a:off x="2482596" y="2212848"/>
            <a:ext cx="201168" cy="201168"/>
          </a:xfrm>
          <a:prstGeom prst="roundRect">
            <a:avLst>
              <a:gd name="adj" fmla="val 18182"/>
            </a:avLst>
          </a:prstGeom>
          <a:solidFill>
            <a:schemeClr val="accent6"/>
          </a:solidFill>
          <a:ln w="12700">
            <a:solidFill>
              <a:schemeClr val="accent6"/>
            </a:solidFill>
            <a:prstDash val="solid"/>
          </a:ln>
        </p:spPr>
      </p:sp>
      <p:sp>
        <p:nvSpPr>
          <p:cNvPr id="11" name="Bumper icon"/>
          <p:cNvSpPr/>
          <p:nvPr/>
        </p:nvSpPr>
        <p:spPr>
          <a:xfrm>
            <a:off x="1897380" y="2505456"/>
            <a:ext cx="201168" cy="201168"/>
          </a:xfrm>
          <a:prstGeom prst="roundRect">
            <a:avLst>
              <a:gd name="adj" fmla="val 18182"/>
            </a:avLst>
          </a:prstGeom>
          <a:solidFill>
            <a:schemeClr val="accent6"/>
          </a:solidFill>
          <a:ln w="12700">
            <a:solidFill>
              <a:schemeClr val="accent6"/>
            </a:solidFill>
            <a:prstDash val="solid"/>
          </a:ln>
        </p:spPr>
      </p:sp>
      <p:sp>
        <p:nvSpPr>
          <p:cNvPr id="12" name="Bumper icon"/>
          <p:cNvSpPr/>
          <p:nvPr/>
        </p:nvSpPr>
        <p:spPr>
          <a:xfrm>
            <a:off x="2189988" y="2505456"/>
            <a:ext cx="201168" cy="201168"/>
          </a:xfrm>
          <a:prstGeom prst="roundRect">
            <a:avLst>
              <a:gd name="adj" fmla="val 18182"/>
            </a:avLst>
          </a:prstGeom>
          <a:solidFill>
            <a:schemeClr val="accent6"/>
          </a:solidFill>
          <a:ln w="12700">
            <a:solidFill>
              <a:schemeClr val="accent6"/>
            </a:solidFill>
            <a:prstDash val="solid"/>
          </a:ln>
        </p:spPr>
      </p:sp>
      <p:sp>
        <p:nvSpPr>
          <p:cNvPr id="13" name="Bumper icon"/>
          <p:cNvSpPr/>
          <p:nvPr/>
        </p:nvSpPr>
        <p:spPr>
          <a:xfrm>
            <a:off x="2482596" y="2505456"/>
            <a:ext cx="201168" cy="201168"/>
          </a:xfrm>
          <a:prstGeom prst="roundRect">
            <a:avLst>
              <a:gd name="adj" fmla="val 18182"/>
            </a:avLst>
          </a:prstGeom>
          <a:solidFill>
            <a:schemeClr val="accent6"/>
          </a:solidFill>
          <a:ln w="12700">
            <a:solidFill>
              <a:schemeClr val="accent6"/>
            </a:solidFill>
            <a:prstDash val="solid"/>
          </a:ln>
        </p:spPr>
      </p:sp>
      <p:sp>
        <p:nvSpPr>
          <p:cNvPr id="14" name="Bumper icon"/>
          <p:cNvSpPr/>
          <p:nvPr/>
        </p:nvSpPr>
        <p:spPr>
          <a:xfrm>
            <a:off x="1897380" y="2798064"/>
            <a:ext cx="201168" cy="201168"/>
          </a:xfrm>
          <a:prstGeom prst="roundRect">
            <a:avLst>
              <a:gd name="adj" fmla="val 18182"/>
            </a:avLst>
          </a:prstGeom>
          <a:solidFill>
            <a:schemeClr val="accent6"/>
          </a:solidFill>
          <a:ln w="12700">
            <a:solidFill>
              <a:schemeClr val="accent6"/>
            </a:solidFill>
            <a:prstDash val="solid"/>
          </a:ln>
        </p:spPr>
      </p:sp>
      <p:sp>
        <p:nvSpPr>
          <p:cNvPr id="15" name="Bumper icon"/>
          <p:cNvSpPr/>
          <p:nvPr/>
        </p:nvSpPr>
        <p:spPr>
          <a:xfrm>
            <a:off x="2189988" y="2798064"/>
            <a:ext cx="201168" cy="201168"/>
          </a:xfrm>
          <a:prstGeom prst="roundRect">
            <a:avLst>
              <a:gd name="adj" fmla="val 18182"/>
            </a:avLst>
          </a:prstGeom>
          <a:solidFill>
            <a:schemeClr val="accent6"/>
          </a:solidFill>
          <a:ln w="12700">
            <a:solidFill>
              <a:schemeClr val="accent6"/>
            </a:solidFill>
            <a:prstDash val="solid"/>
          </a:ln>
        </p:spPr>
      </p:sp>
      <p:sp>
        <p:nvSpPr>
          <p:cNvPr id="16" name="Bumper icon"/>
          <p:cNvSpPr/>
          <p:nvPr/>
        </p:nvSpPr>
        <p:spPr>
          <a:xfrm>
            <a:off x="2482596" y="2798064"/>
            <a:ext cx="201168" cy="201168"/>
          </a:xfrm>
          <a:prstGeom prst="roundRect">
            <a:avLst>
              <a:gd name="adj" fmla="val 18182"/>
            </a:avLst>
          </a:prstGeom>
          <a:solidFill>
            <a:schemeClr val="accent6"/>
          </a:solidFill>
          <a:ln w="12700">
            <a:solidFill>
              <a:schemeClr val="accent6"/>
            </a:solidFill>
            <a:prstDash val="solid"/>
          </a:ln>
        </p:spPr>
      </p:sp>
      <p:sp>
        <p:nvSpPr>
          <p:cNvPr id="17" name="Bumper button"/>
          <p:cNvSpPr/>
          <p:nvPr/>
        </p:nvSpPr>
        <p:spPr>
          <a:xfrm>
            <a:off x="2171700" y="3310128"/>
            <a:ext cx="274320" cy="274320"/>
          </a:xfrm>
          <a:prstGeom prst="ellipse">
            <a:avLst/>
          </a:prstGeom>
          <a:solidFill>
            <a:schemeClr val="accent1"/>
          </a:solidFill>
          <a:ln w="12700">
            <a:solidFill>
              <a:schemeClr val="accent1"/>
            </a:solidFill>
            <a:prstDash val="solid"/>
          </a:ln>
        </p:spPr>
      </p:sp>
      <p:sp>
        <p:nvSpPr>
          <p:cNvPr id="18" name="Slim bumper rejected circle"/>
          <p:cNvSpPr/>
          <p:nvPr/>
        </p:nvSpPr>
        <p:spPr>
          <a:xfrm>
            <a:off x="822960" y="3931920"/>
            <a:ext cx="384048" cy="384048"/>
          </a:xfrm>
          <a:prstGeom prst="ellipse">
            <a:avLst/>
          </a:prstGeom>
          <a:solidFill>
            <a:schemeClr val="accent5"/>
          </a:solidFill>
          <a:ln w="12700">
            <a:solidFill>
              <a:schemeClr val="accent5"/>
            </a:solidFill>
            <a:prstDash val="solid"/>
          </a:ln>
        </p:spPr>
      </p:sp>
      <p:pic>
        <p:nvPicPr>
          <p:cNvPr id="19" name="Slim bumper rejected icon" descr="Slim bumper rejected">    </p:cNvPr>
          <p:cNvPicPr>
            <a:picLocks noChangeAspect="1"/>
          </p:cNvPicPr>
          <p:nvPr/>
        </p:nvPicPr>
        <p:blipFill>
          <a:blip r:embed="rId1"/>
          <a:stretch>
            <a:fillRect/>
          </a:stretch>
        </p:blipFill>
        <p:spPr>
          <a:xfrm>
            <a:off x="922812" y="4031772"/>
            <a:ext cx="184343" cy="184343"/>
          </a:xfrm>
          <a:prstGeom prst="rect">
            <a:avLst/>
          </a:prstGeom>
        </p:spPr>
      </p:pic>
      <p:sp>
        <p:nvSpPr>
          <p:cNvPr id="20" name="Slim bumper verdict"/>
          <p:cNvSpPr txBox="1"/>
          <p:nvPr/>
        </p:nvSpPr>
        <p:spPr>
          <a:xfrm>
            <a:off x="1325880" y="3931920"/>
            <a:ext cx="2606040" cy="384048"/>
          </a:xfrm>
          <a:prstGeom prst="rect">
            <a:avLst/>
          </a:prstGeom>
          <a:noFill/>
          <a:ln/>
        </p:spPr>
        <p:txBody>
          <a:bodyPr wrap="square" lIns="0" tIns="0" rIns="0" bIns="0" rtlCol="0" anchor="ctr"/>
          <a:lstStyle/>
          <a:p>
            <a:pPr indent="0" marL="0">
              <a:buNone/>
            </a:pPr>
            <a:r>
              <a:rPr lang="en-US" sz="1700" b="1" dirty="0">
                <a:solidFill>
                  <a:schemeClr val="tx1"/>
                </a:solidFill>
              </a:rPr>
              <a:t>Rejected · Slim bumper</a:t>
            </a:r>
            <a:endParaRPr lang="en-US" sz="1700" dirty="0"/>
          </a:p>
        </p:txBody>
      </p:sp>
      <p:sp>
        <p:nvSpPr>
          <p:cNvPr id="21" name="Slim bumper quote"/>
          <p:cNvSpPr txBox="1"/>
          <p:nvPr/>
        </p:nvSpPr>
        <p:spPr>
          <a:xfrm>
            <a:off x="822960" y="4480560"/>
            <a:ext cx="3017520" cy="411480"/>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“My finger is disloyal.”</a:t>
            </a:r>
            <a:endParaRPr lang="en-US" sz="1700" dirty="0"/>
          </a:p>
        </p:txBody>
      </p:sp>
      <p:sp>
        <p:nvSpPr>
          <p:cNvPr id="22" name="Slim bumper reason"/>
          <p:cNvSpPr txBox="1"/>
          <p:nvPr/>
        </p:nvSpPr>
        <p:spPr>
          <a:xfrm>
            <a:off x="822960" y="4937760"/>
            <a:ext cx="3017520" cy="1005840"/>
          </a:xfrm>
          <a:prstGeom prst="rect">
            <a:avLst/>
          </a:prstGeom>
          <a:noFill/>
          <a:ln/>
        </p:spPr>
        <p:txBody>
          <a:bodyPr wrap="square" lIns="0" tIns="0" rIns="0" bIns="0" rtlCol="0" anchor="t"/>
          <a:lstStyle/>
          <a:p>
            <a:pPr indent="0" marL="0">
              <a:buNone/>
            </a:pPr>
            <a:r>
              <a:rPr lang="en-US" sz="1400" dirty="0">
                <a:solidFill>
                  <a:schemeClr val="accent5"/>
                </a:solidFill>
              </a:rPr>
              <a:t>All the icons stayed there to confuse him.</a:t>
            </a:r>
            <a:endParaRPr lang="en-US" sz="1400" dirty="0"/>
          </a:p>
        </p:txBody>
      </p:sp>
      <p:sp>
        <p:nvSpPr>
          <p:cNvPr id="23" name="Full cover highlight"/>
          <p:cNvSpPr/>
          <p:nvPr/>
        </p:nvSpPr>
        <p:spPr>
          <a:xfrm>
            <a:off x="4343400" y="1554480"/>
            <a:ext cx="3520440" cy="4526280"/>
          </a:xfrm>
          <a:prstGeom prst="roundRect">
            <a:avLst>
              <a:gd name="adj" fmla="val 3117"/>
            </a:avLst>
          </a:prstGeom>
          <a:solidFill>
            <a:schemeClr val="bg2"/>
          </a:solidFill>
          <a:ln w="25400">
            <a:solidFill>
              <a:schemeClr val="accent1"/>
            </a:solidFill>
            <a:prstDash val="solid"/>
          </a:ln>
        </p:spPr>
      </p:sp>
      <p:sp>
        <p:nvSpPr>
          <p:cNvPr id="24" name="Cover body"/>
          <p:cNvSpPr/>
          <p:nvPr/>
        </p:nvSpPr>
        <p:spPr>
          <a:xfrm>
            <a:off x="5536692" y="1737360"/>
            <a:ext cx="1133856" cy="2011680"/>
          </a:xfrm>
          <a:prstGeom prst="roundRect">
            <a:avLst>
              <a:gd name="adj" fmla="val 12097"/>
            </a:avLst>
          </a:prstGeom>
          <a:solidFill>
            <a:schemeClr val="tx2"/>
          </a:solidFill>
          <a:ln w="12700">
            <a:solidFill>
              <a:schemeClr val="tx2"/>
            </a:solidFill>
            <a:prstDash val="solid"/>
          </a:ln>
        </p:spPr>
      </p:sp>
      <p:sp>
        <p:nvSpPr>
          <p:cNvPr id="25" name="Cover window"/>
          <p:cNvSpPr/>
          <p:nvPr/>
        </p:nvSpPr>
        <p:spPr>
          <a:xfrm>
            <a:off x="5673852" y="1901952"/>
            <a:ext cx="859536" cy="960120"/>
          </a:xfrm>
          <a:prstGeom prst="rect">
            <a:avLst/>
          </a:prstGeom>
          <a:solidFill>
            <a:schemeClr val="bg2"/>
          </a:solidFill>
          <a:ln w="12700">
            <a:solidFill>
              <a:schemeClr val="bg2"/>
            </a:solidFill>
            <a:prstDash val="solid"/>
          </a:ln>
        </p:spPr>
      </p:sp>
      <p:sp>
        <p:nvSpPr>
          <p:cNvPr id="26" name="Cover red button"/>
          <p:cNvSpPr/>
          <p:nvPr/>
        </p:nvSpPr>
        <p:spPr>
          <a:xfrm>
            <a:off x="6350508" y="2670048"/>
            <a:ext cx="137160" cy="137160"/>
          </a:xfrm>
          <a:prstGeom prst="ellipse">
            <a:avLst/>
          </a:prstGeom>
          <a:solidFill>
            <a:schemeClr val="accent3"/>
          </a:solidFill>
          <a:ln w="9525">
            <a:solidFill>
              <a:schemeClr val="bg1"/>
            </a:solidFill>
            <a:prstDash val="solid"/>
          </a:ln>
        </p:spPr>
      </p:sp>
      <p:sp>
        <p:nvSpPr>
          <p:cNvPr id="27" name="Cover green button"/>
          <p:cNvSpPr/>
          <p:nvPr/>
        </p:nvSpPr>
        <p:spPr>
          <a:xfrm>
            <a:off x="5920740" y="3090672"/>
            <a:ext cx="365760" cy="365760"/>
          </a:xfrm>
          <a:prstGeom prst="ellipse">
            <a:avLst/>
          </a:prstGeom>
          <a:solidFill>
            <a:schemeClr val="accent2"/>
          </a:solidFill>
          <a:ln w="9525">
            <a:solidFill>
              <a:schemeClr val="bg1"/>
            </a:solidFill>
            <a:prstDash val="solid"/>
          </a:ln>
        </p:spPr>
      </p:sp>
      <p:sp>
        <p:nvSpPr>
          <p:cNvPr id="28" name="Full cover chosen circle"/>
          <p:cNvSpPr/>
          <p:nvPr/>
        </p:nvSpPr>
        <p:spPr>
          <a:xfrm>
            <a:off x="4617720" y="3931920"/>
            <a:ext cx="384048" cy="384048"/>
          </a:xfrm>
          <a:prstGeom prst="ellipse">
            <a:avLst/>
          </a:prstGeom>
          <a:solidFill>
            <a:schemeClr val="accent2"/>
          </a:solidFill>
          <a:ln w="12700">
            <a:solidFill>
              <a:schemeClr val="accent2"/>
            </a:solidFill>
            <a:prstDash val="solid"/>
          </a:ln>
        </p:spPr>
      </p:sp>
      <p:pic>
        <p:nvPicPr>
          <p:cNvPr id="29" name="Full cover chosen icon" descr="Full cover chosen">    </p:cNvPr>
          <p:cNvPicPr>
            <a:picLocks noChangeAspect="1"/>
          </p:cNvPicPr>
          <p:nvPr/>
        </p:nvPicPr>
        <p:blipFill>
          <a:blip r:embed="rId2"/>
          <a:stretch>
            <a:fillRect/>
          </a:stretch>
        </p:blipFill>
        <p:spPr>
          <a:xfrm>
            <a:off x="4717572" y="4031772"/>
            <a:ext cx="184343" cy="184343"/>
          </a:xfrm>
          <a:prstGeom prst="rect">
            <a:avLst/>
          </a:prstGeom>
        </p:spPr>
      </p:pic>
      <p:sp>
        <p:nvSpPr>
          <p:cNvPr id="30" name="Full cover verdict"/>
          <p:cNvSpPr txBox="1"/>
          <p:nvPr/>
        </p:nvSpPr>
        <p:spPr>
          <a:xfrm>
            <a:off x="5120640" y="3931920"/>
            <a:ext cx="2606040" cy="384048"/>
          </a:xfrm>
          <a:prstGeom prst="rect">
            <a:avLst/>
          </a:prstGeom>
          <a:noFill/>
          <a:ln/>
        </p:spPr>
        <p:txBody>
          <a:bodyPr wrap="square" lIns="0" tIns="0" rIns="0" bIns="0" rtlCol="0" anchor="ctr"/>
          <a:lstStyle/>
          <a:p>
            <a:pPr indent="0" marL="0">
              <a:buNone/>
            </a:pPr>
            <a:r>
              <a:rPr lang="en-US" sz="1700" b="1" dirty="0">
                <a:solidFill>
                  <a:schemeClr val="tx1"/>
                </a:solidFill>
              </a:rPr>
              <a:t>Chosen · Full cover</a:t>
            </a:r>
            <a:endParaRPr lang="en-US" sz="1700" dirty="0"/>
          </a:p>
        </p:txBody>
      </p:sp>
      <p:sp>
        <p:nvSpPr>
          <p:cNvPr id="31" name="Full cover quote"/>
          <p:cNvSpPr txBox="1"/>
          <p:nvPr/>
        </p:nvSpPr>
        <p:spPr>
          <a:xfrm>
            <a:off x="4617720" y="4480560"/>
            <a:ext cx="3017520" cy="411480"/>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“This. I see one thing.”</a:t>
            </a:r>
            <a:endParaRPr lang="en-US" sz="1700" dirty="0"/>
          </a:p>
        </p:txBody>
      </p:sp>
      <p:sp>
        <p:nvSpPr>
          <p:cNvPr id="32" name="Full cover reason"/>
          <p:cNvSpPr txBox="1"/>
          <p:nvPr/>
        </p:nvSpPr>
        <p:spPr>
          <a:xfrm>
            <a:off x="4617720" y="4937760"/>
            <a:ext cx="3017520" cy="1005840"/>
          </a:xfrm>
          <a:prstGeom prst="rect">
            <a:avLst/>
          </a:prstGeom>
          <a:noFill/>
          <a:ln/>
        </p:spPr>
        <p:txBody>
          <a:bodyPr wrap="square" lIns="0" tIns="0" rIns="0" bIns="0" rtlCol="0" anchor="t"/>
          <a:lstStyle/>
          <a:p>
            <a:pPr indent="0" marL="0">
              <a:buNone/>
            </a:pPr>
            <a:r>
              <a:rPr lang="en-US" sz="1400" dirty="0">
                <a:solidFill>
                  <a:schemeClr val="accent5"/>
                </a:solidFill>
              </a:rPr>
              <a:t>His own smartphone inside, one thing at a time. Green to talk, red to end. Dark and plain, “like the radio”.</a:t>
            </a:r>
            <a:endParaRPr lang="en-US" sz="1400" dirty="0"/>
          </a:p>
        </p:txBody>
      </p:sp>
      <p:sp>
        <p:nvSpPr>
          <p:cNvPr id="33" name="Box body"/>
          <p:cNvSpPr/>
          <p:nvPr/>
        </p:nvSpPr>
        <p:spPr>
          <a:xfrm>
            <a:off x="9258300" y="2240280"/>
            <a:ext cx="1280160" cy="1097280"/>
          </a:xfrm>
          <a:prstGeom prst="roundRect">
            <a:avLst>
              <a:gd name="adj" fmla="val 12500"/>
            </a:avLst>
          </a:prstGeom>
          <a:solidFill>
            <a:schemeClr val="bg1"/>
          </a:solidFill>
          <a:ln w="19050">
            <a:solidFill>
              <a:schemeClr val="tx1"/>
            </a:solidFill>
            <a:prstDash val="solid"/>
          </a:ln>
        </p:spPr>
      </p:sp>
      <p:sp>
        <p:nvSpPr>
          <p:cNvPr id="34" name="Box button"/>
          <p:cNvSpPr/>
          <p:nvPr/>
        </p:nvSpPr>
        <p:spPr>
          <a:xfrm>
            <a:off x="9715500" y="2606040"/>
            <a:ext cx="365760" cy="365760"/>
          </a:xfrm>
          <a:prstGeom prst="ellipse">
            <a:avLst/>
          </a:prstGeom>
          <a:solidFill>
            <a:schemeClr val="accent1"/>
          </a:solidFill>
          <a:ln w="12700">
            <a:solidFill>
              <a:schemeClr val="accent1"/>
            </a:solidFill>
            <a:prstDash val="solid"/>
          </a:ln>
        </p:spPr>
      </p:sp>
      <p:sp>
        <p:nvSpPr>
          <p:cNvPr id="35" name="Separate box rejected circle"/>
          <p:cNvSpPr/>
          <p:nvPr/>
        </p:nvSpPr>
        <p:spPr>
          <a:xfrm>
            <a:off x="8412480" y="3931920"/>
            <a:ext cx="384048" cy="384048"/>
          </a:xfrm>
          <a:prstGeom prst="ellipse">
            <a:avLst/>
          </a:prstGeom>
          <a:solidFill>
            <a:schemeClr val="accent5"/>
          </a:solidFill>
          <a:ln w="12700">
            <a:solidFill>
              <a:schemeClr val="accent5"/>
            </a:solidFill>
            <a:prstDash val="solid"/>
          </a:ln>
        </p:spPr>
      </p:sp>
      <p:pic>
        <p:nvPicPr>
          <p:cNvPr id="36" name="Separate box rejected icon" descr="Separate box rejected">    </p:cNvPr>
          <p:cNvPicPr>
            <a:picLocks noChangeAspect="1"/>
          </p:cNvPicPr>
          <p:nvPr/>
        </p:nvPicPr>
        <p:blipFill>
          <a:blip r:embed="rId3"/>
          <a:stretch>
            <a:fillRect/>
          </a:stretch>
        </p:blipFill>
        <p:spPr>
          <a:xfrm>
            <a:off x="8512332" y="4031772"/>
            <a:ext cx="184343" cy="184343"/>
          </a:xfrm>
          <a:prstGeom prst="rect">
            <a:avLst/>
          </a:prstGeom>
        </p:spPr>
      </p:pic>
      <p:sp>
        <p:nvSpPr>
          <p:cNvPr id="37" name="Separate box verdict"/>
          <p:cNvSpPr txBox="1"/>
          <p:nvPr/>
        </p:nvSpPr>
        <p:spPr>
          <a:xfrm>
            <a:off x="8915400" y="3931920"/>
            <a:ext cx="2606040" cy="384048"/>
          </a:xfrm>
          <a:prstGeom prst="rect">
            <a:avLst/>
          </a:prstGeom>
          <a:noFill/>
          <a:ln/>
        </p:spPr>
        <p:txBody>
          <a:bodyPr wrap="square" lIns="0" tIns="0" rIns="0" bIns="0" rtlCol="0" anchor="ctr"/>
          <a:lstStyle/>
          <a:p>
            <a:pPr indent="0" marL="0">
              <a:buNone/>
            </a:pPr>
            <a:r>
              <a:rPr lang="en-US" sz="1700" b="1" dirty="0">
                <a:solidFill>
                  <a:schemeClr val="tx1"/>
                </a:solidFill>
              </a:rPr>
              <a:t>Rejected · Separate box</a:t>
            </a:r>
            <a:endParaRPr lang="en-US" sz="1700" dirty="0"/>
          </a:p>
        </p:txBody>
      </p:sp>
      <p:sp>
        <p:nvSpPr>
          <p:cNvPr id="38" name="Separate box quote"/>
          <p:cNvSpPr txBox="1"/>
          <p:nvPr/>
        </p:nvSpPr>
        <p:spPr>
          <a:xfrm>
            <a:off x="8412480" y="4480560"/>
            <a:ext cx="3017520" cy="411480"/>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“A third phone.”</a:t>
            </a:r>
            <a:endParaRPr lang="en-US" sz="1700" dirty="0"/>
          </a:p>
        </p:txBody>
      </p:sp>
      <p:sp>
        <p:nvSpPr>
          <p:cNvPr id="39" name="Separate box reason"/>
          <p:cNvSpPr txBox="1"/>
          <p:nvPr/>
        </p:nvSpPr>
        <p:spPr>
          <a:xfrm>
            <a:off x="8412480" y="4937760"/>
            <a:ext cx="3017520" cy="1005840"/>
          </a:xfrm>
          <a:prstGeom prst="rect">
            <a:avLst/>
          </a:prstGeom>
          <a:noFill/>
          <a:ln/>
        </p:spPr>
        <p:txBody>
          <a:bodyPr wrap="square" lIns="0" tIns="0" rIns="0" bIns="0" rtlCol="0" anchor="t"/>
          <a:lstStyle/>
          <a:p>
            <a:pPr indent="0" marL="0">
              <a:buNone/>
            </a:pPr>
            <a:r>
              <a:rPr lang="en-US" sz="1400" dirty="0">
                <a:solidFill>
                  <a:schemeClr val="accent5"/>
                </a:solidFill>
              </a:rPr>
              <a:t>He already struggles with two.</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Session 2 · How it should talk</a:t>
            </a:r>
            <a:endParaRPr lang="en-US" sz="3200" dirty="0"/>
          </a:p>
        </p:txBody>
      </p:sp>
      <p:sp>
        <p:nvSpPr>
          <p:cNvPr id="3" name="Voice meta"/>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500" dirty="0">
                <a:solidFill>
                  <a:schemeClr val="accent5"/>
                </a:solidFill>
              </a:rPr>
              <a:t>João voiced the phone while Manuel pressed a cardboard button; then Manuel told the story we drew</a:t>
            </a:r>
            <a:endParaRPr lang="en-US" sz="1500" dirty="0"/>
          </a:p>
        </p:txBody>
      </p:sp>
      <p:sp>
        <p:nvSpPr>
          <p:cNvPr id="4" name="Rules label"/>
          <p:cNvSpPr txBox="1"/>
          <p:nvPr/>
        </p:nvSpPr>
        <p:spPr>
          <a:xfrm>
            <a:off x="548640" y="1645920"/>
            <a:ext cx="5669280" cy="365760"/>
          </a:xfrm>
          <a:prstGeom prst="rect">
            <a:avLst/>
          </a:prstGeom>
          <a:noFill/>
          <a:ln/>
        </p:spPr>
        <p:txBody>
          <a:bodyPr wrap="square" lIns="0" tIns="0" rIns="0" bIns="0" rtlCol="0" anchor="ctr"/>
          <a:lstStyle/>
          <a:p>
            <a:pPr indent="0" marL="0">
              <a:buNone/>
            </a:pPr>
            <a:r>
              <a:rPr lang="en-US" sz="1800" b="1" dirty="0">
                <a:solidFill>
                  <a:schemeClr val="tx1"/>
                </a:solidFill>
              </a:rPr>
              <a:t>Rules from the role-play</a:t>
            </a:r>
            <a:endParaRPr lang="en-US" sz="1800" dirty="0"/>
          </a:p>
        </p:txBody>
      </p:sp>
      <p:sp>
        <p:nvSpPr>
          <p:cNvPr id="5" name="Rules"/>
          <p:cNvSpPr txBox="1"/>
          <p:nvPr/>
        </p:nvSpPr>
        <p:spPr>
          <a:xfrm>
            <a:off x="548640" y="2103120"/>
            <a:ext cx="5669280" cy="329184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tx1"/>
                </a:solidFill>
              </a:rPr>
              <a:t>No greeting: he knows he pressed the button</a:t>
            </a:r>
            <a:endParaRPr lang="en-US" sz="1600" dirty="0"/>
          </a:p>
          <a:p>
            <a:pPr marL="342900" indent="-342900">
              <a:spcAft>
                <a:spcPts val="700"/>
              </a:spcAft>
              <a:buSzPct val="100000"/>
              <a:buChar char="•"/>
            </a:pPr>
            <a:r>
              <a:rPr lang="en-US" sz="1600" dirty="0">
                <a:solidFill>
                  <a:schemeClr val="tx1"/>
                </a:solidFill>
              </a:rPr>
              <a:t>The sender’s name first, then one sentence, then silence while he looks</a:t>
            </a:r>
            <a:endParaRPr lang="en-US" sz="1600" dirty="0"/>
          </a:p>
          <a:p>
            <a:pPr marL="342900" indent="-342900">
              <a:spcAft>
                <a:spcPts val="700"/>
              </a:spcAft>
              <a:buSzPct val="100000"/>
              <a:buChar char="•"/>
            </a:pPr>
            <a:r>
              <a:rPr lang="en-US" sz="1600" dirty="0">
                <a:solidFill>
                  <a:schemeClr val="tx1"/>
                </a:solidFill>
              </a:rPr>
              <a:t>Unknown sender: no photo, no link, offer to call his daughter</a:t>
            </a:r>
            <a:endParaRPr lang="en-US" sz="1600" dirty="0"/>
          </a:p>
          <a:p>
            <a:pPr marL="342900" indent="-342900">
              <a:spcAft>
                <a:spcPts val="700"/>
              </a:spcAft>
              <a:buSzPct val="100000"/>
              <a:buChar char="•"/>
            </a:pPr>
            <a:r>
              <a:rPr lang="en-US" sz="1600" dirty="0">
                <a:solidFill>
                  <a:schemeClr val="tx1"/>
                </a:solidFill>
              </a:rPr>
              <a:t>One voice message at a time</a:t>
            </a:r>
            <a:endParaRPr lang="en-US" sz="1600" dirty="0"/>
          </a:p>
          <a:p>
            <a:pPr marL="342900" indent="-342900">
              <a:spcAft>
                <a:spcPts val="700"/>
              </a:spcAft>
              <a:buSzPct val="100000"/>
              <a:buChar char="•"/>
            </a:pPr>
            <a:r>
              <a:rPr lang="en-US" sz="1600" dirty="0">
                <a:solidFill>
                  <a:schemeClr val="tx1"/>
                </a:solidFill>
              </a:rPr>
              <a:t>His reply is repeated back before it is sent</a:t>
            </a:r>
            <a:endParaRPr lang="en-US" sz="1600" dirty="0"/>
          </a:p>
          <a:p>
            <a:pPr marL="342900" indent="-342900">
              <a:spcAft>
                <a:spcPts val="700"/>
              </a:spcAft>
              <a:buSzPct val="100000"/>
              <a:buChar char="•"/>
            </a:pPr>
            <a:r>
              <a:rPr lang="en-US" sz="1600" dirty="0">
                <a:solidFill>
                  <a:schemeClr val="tx1"/>
                </a:solidFill>
              </a:rPr>
              <a:t>After two misunderstandings, it does nothing</a:t>
            </a:r>
            <a:endParaRPr lang="en-US" sz="1600" dirty="0"/>
          </a:p>
        </p:txBody>
      </p:sp>
      <p:sp>
        <p:nvSpPr>
          <p:cNvPr id="6" name="Storyboard label"/>
          <p:cNvSpPr txBox="1"/>
          <p:nvPr/>
        </p:nvSpPr>
        <p:spPr>
          <a:xfrm>
            <a:off x="6583680" y="164592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His storyboard</a:t>
            </a:r>
            <a:endParaRPr lang="en-US" sz="1800" dirty="0"/>
          </a:p>
        </p:txBody>
      </p:sp>
      <p:sp>
        <p:nvSpPr>
          <p:cNvPr id="7" name="Panel 1"/>
          <p:cNvSpPr/>
          <p:nvPr/>
        </p:nvSpPr>
        <p:spPr>
          <a:xfrm>
            <a:off x="6583680" y="2103120"/>
            <a:ext cx="2423160" cy="1463040"/>
          </a:xfrm>
          <a:prstGeom prst="roundRect">
            <a:avLst>
              <a:gd name="adj" fmla="val 7500"/>
            </a:avLst>
          </a:prstGeom>
          <a:solidFill>
            <a:schemeClr val="bg2"/>
          </a:solidFill>
          <a:ln w="12700">
            <a:solidFill>
              <a:schemeClr val="bg2"/>
            </a:solidFill>
            <a:prstDash val="solid"/>
          </a:ln>
        </p:spPr>
      </p:sp>
      <p:sp>
        <p:nvSpPr>
          <p:cNvPr id="8" name="Panel 1 circle"/>
          <p:cNvSpPr/>
          <p:nvPr/>
        </p:nvSpPr>
        <p:spPr>
          <a:xfrm>
            <a:off x="6720840" y="2240280"/>
            <a:ext cx="365760" cy="365760"/>
          </a:xfrm>
          <a:prstGeom prst="ellipse">
            <a:avLst/>
          </a:prstGeom>
          <a:solidFill>
            <a:schemeClr val="accent1"/>
          </a:solidFill>
          <a:ln w="12700">
            <a:solidFill>
              <a:schemeClr val="accent1"/>
            </a:solidFill>
            <a:prstDash val="solid"/>
          </a:ln>
        </p:spPr>
      </p:sp>
      <p:sp>
        <p:nvSpPr>
          <p:cNvPr id="9" name="Panel 1 number"/>
          <p:cNvSpPr txBox="1"/>
          <p:nvPr/>
        </p:nvSpPr>
        <p:spPr>
          <a:xfrm>
            <a:off x="672084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Panel 1 text"/>
          <p:cNvSpPr txBox="1"/>
          <p:nvPr/>
        </p:nvSpPr>
        <p:spPr>
          <a:xfrm>
            <a:off x="6720840" y="2697480"/>
            <a:ext cx="2148840" cy="777240"/>
          </a:xfrm>
          <a:prstGeom prst="rect">
            <a:avLst/>
          </a:prstGeom>
          <a:noFill/>
          <a:ln/>
        </p:spPr>
        <p:txBody>
          <a:bodyPr wrap="square" lIns="0" tIns="0" rIns="0" bIns="0" rtlCol="0" anchor="t"/>
          <a:lstStyle/>
          <a:p>
            <a:pPr indent="0" marL="0">
              <a:buNone/>
            </a:pPr>
            <a:r>
              <a:rPr lang="en-US" sz="1400" dirty="0">
                <a:solidFill>
                  <a:schemeClr val="tx1"/>
                </a:solidFill>
              </a:rPr>
              <a:t>His granddaughter sends today’s photo; the phone says her name</a:t>
            </a:r>
            <a:endParaRPr lang="en-US" sz="1400" dirty="0"/>
          </a:p>
        </p:txBody>
      </p:sp>
      <p:sp>
        <p:nvSpPr>
          <p:cNvPr id="11" name="Panel 2"/>
          <p:cNvSpPr/>
          <p:nvPr/>
        </p:nvSpPr>
        <p:spPr>
          <a:xfrm>
            <a:off x="9144000" y="2103120"/>
            <a:ext cx="2423160" cy="1463040"/>
          </a:xfrm>
          <a:prstGeom prst="roundRect">
            <a:avLst>
              <a:gd name="adj" fmla="val 7500"/>
            </a:avLst>
          </a:prstGeom>
          <a:solidFill>
            <a:schemeClr val="bg2"/>
          </a:solidFill>
          <a:ln w="12700">
            <a:solidFill>
              <a:schemeClr val="bg2"/>
            </a:solidFill>
            <a:prstDash val="solid"/>
          </a:ln>
        </p:spPr>
      </p:sp>
      <p:sp>
        <p:nvSpPr>
          <p:cNvPr id="12" name="Panel 2 circle"/>
          <p:cNvSpPr/>
          <p:nvPr/>
        </p:nvSpPr>
        <p:spPr>
          <a:xfrm>
            <a:off x="9281160" y="2240280"/>
            <a:ext cx="365760" cy="365760"/>
          </a:xfrm>
          <a:prstGeom prst="ellipse">
            <a:avLst/>
          </a:prstGeom>
          <a:solidFill>
            <a:schemeClr val="accent1"/>
          </a:solidFill>
          <a:ln w="12700">
            <a:solidFill>
              <a:schemeClr val="accent1"/>
            </a:solidFill>
            <a:prstDash val="solid"/>
          </a:ln>
        </p:spPr>
      </p:sp>
      <p:sp>
        <p:nvSpPr>
          <p:cNvPr id="13" name="Panel 2 number"/>
          <p:cNvSpPr txBox="1"/>
          <p:nvPr/>
        </p:nvSpPr>
        <p:spPr>
          <a:xfrm>
            <a:off x="928116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Panel 2 text"/>
          <p:cNvSpPr txBox="1"/>
          <p:nvPr/>
        </p:nvSpPr>
        <p:spPr>
          <a:xfrm>
            <a:off x="9281160" y="2697480"/>
            <a:ext cx="2148840" cy="777240"/>
          </a:xfrm>
          <a:prstGeom prst="rect">
            <a:avLst/>
          </a:prstGeom>
          <a:noFill/>
          <a:ln/>
        </p:spPr>
        <p:txBody>
          <a:bodyPr wrap="square" lIns="0" tIns="0" rIns="0" bIns="0" rtlCol="0" anchor="t"/>
          <a:lstStyle/>
          <a:p>
            <a:pPr indent="0" marL="0">
              <a:buNone/>
            </a:pPr>
            <a:r>
              <a:rPr lang="en-US" sz="1400" dirty="0">
                <a:solidFill>
                  <a:schemeClr val="tx1"/>
                </a:solidFill>
              </a:rPr>
              <a:t>He presses green: “Quero ver.”</a:t>
            </a:r>
            <a:endParaRPr lang="en-US" sz="1400" dirty="0"/>
          </a:p>
        </p:txBody>
      </p:sp>
      <p:sp>
        <p:nvSpPr>
          <p:cNvPr id="15" name="Panel 3"/>
          <p:cNvSpPr/>
          <p:nvPr/>
        </p:nvSpPr>
        <p:spPr>
          <a:xfrm>
            <a:off x="6583680" y="3703320"/>
            <a:ext cx="2423160" cy="1463040"/>
          </a:xfrm>
          <a:prstGeom prst="roundRect">
            <a:avLst>
              <a:gd name="adj" fmla="val 7500"/>
            </a:avLst>
          </a:prstGeom>
          <a:solidFill>
            <a:schemeClr val="bg2"/>
          </a:solidFill>
          <a:ln w="12700">
            <a:solidFill>
              <a:schemeClr val="bg2"/>
            </a:solidFill>
            <a:prstDash val="solid"/>
          </a:ln>
        </p:spPr>
      </p:sp>
      <p:sp>
        <p:nvSpPr>
          <p:cNvPr id="16" name="Panel 3 circle"/>
          <p:cNvSpPr/>
          <p:nvPr/>
        </p:nvSpPr>
        <p:spPr>
          <a:xfrm>
            <a:off x="6720840" y="3840480"/>
            <a:ext cx="365760" cy="365760"/>
          </a:xfrm>
          <a:prstGeom prst="ellipse">
            <a:avLst/>
          </a:prstGeom>
          <a:solidFill>
            <a:schemeClr val="accent1"/>
          </a:solidFill>
          <a:ln w="12700">
            <a:solidFill>
              <a:schemeClr val="accent1"/>
            </a:solidFill>
            <a:prstDash val="solid"/>
          </a:ln>
        </p:spPr>
      </p:sp>
      <p:sp>
        <p:nvSpPr>
          <p:cNvPr id="17" name="Panel 3 number"/>
          <p:cNvSpPr txBox="1"/>
          <p:nvPr/>
        </p:nvSpPr>
        <p:spPr>
          <a:xfrm>
            <a:off x="6720840" y="38404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Panel 3 text"/>
          <p:cNvSpPr txBox="1"/>
          <p:nvPr/>
        </p:nvSpPr>
        <p:spPr>
          <a:xfrm>
            <a:off x="6720840" y="4297680"/>
            <a:ext cx="2148840" cy="777240"/>
          </a:xfrm>
          <a:prstGeom prst="rect">
            <a:avLst/>
          </a:prstGeom>
          <a:noFill/>
          <a:ln/>
        </p:spPr>
        <p:txBody>
          <a:bodyPr wrap="square" lIns="0" tIns="0" rIns="0" bIns="0" rtlCol="0" anchor="t"/>
          <a:lstStyle/>
          <a:p>
            <a:pPr indent="0" marL="0">
              <a:buNone/>
            </a:pPr>
            <a:r>
              <a:rPr lang="en-US" sz="1400" dirty="0">
                <a:solidFill>
                  <a:schemeClr val="tx1"/>
                </a:solidFill>
              </a:rPr>
              <a:t>The name again, one sentence, and the photo stays</a:t>
            </a:r>
            <a:endParaRPr lang="en-US" sz="1400" dirty="0"/>
          </a:p>
        </p:txBody>
      </p:sp>
      <p:sp>
        <p:nvSpPr>
          <p:cNvPr id="19" name="Panel 4"/>
          <p:cNvSpPr/>
          <p:nvPr/>
        </p:nvSpPr>
        <p:spPr>
          <a:xfrm>
            <a:off x="9144000" y="3703320"/>
            <a:ext cx="2423160" cy="1463040"/>
          </a:xfrm>
          <a:prstGeom prst="roundRect">
            <a:avLst>
              <a:gd name="adj" fmla="val 7500"/>
            </a:avLst>
          </a:prstGeom>
          <a:solidFill>
            <a:schemeClr val="bg2"/>
          </a:solidFill>
          <a:ln w="12700">
            <a:solidFill>
              <a:schemeClr val="bg2"/>
            </a:solidFill>
            <a:prstDash val="solid"/>
          </a:ln>
        </p:spPr>
      </p:sp>
      <p:sp>
        <p:nvSpPr>
          <p:cNvPr id="20" name="Panel 4 circle"/>
          <p:cNvSpPr/>
          <p:nvPr/>
        </p:nvSpPr>
        <p:spPr>
          <a:xfrm>
            <a:off x="9281160" y="3840480"/>
            <a:ext cx="365760" cy="365760"/>
          </a:xfrm>
          <a:prstGeom prst="ellipse">
            <a:avLst/>
          </a:prstGeom>
          <a:solidFill>
            <a:schemeClr val="accent1"/>
          </a:solidFill>
          <a:ln w="12700">
            <a:solidFill>
              <a:schemeClr val="accent1"/>
            </a:solidFill>
            <a:prstDash val="solid"/>
          </a:ln>
        </p:spPr>
      </p:sp>
      <p:sp>
        <p:nvSpPr>
          <p:cNvPr id="21" name="Panel 4 number"/>
          <p:cNvSpPr txBox="1"/>
          <p:nvPr/>
        </p:nvSpPr>
        <p:spPr>
          <a:xfrm>
            <a:off x="9281160" y="38404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Panel 4 text"/>
          <p:cNvSpPr txBox="1"/>
          <p:nvPr/>
        </p:nvSpPr>
        <p:spPr>
          <a:xfrm>
            <a:off x="9281160" y="4297680"/>
            <a:ext cx="2148840" cy="777240"/>
          </a:xfrm>
          <a:prstGeom prst="rect">
            <a:avLst/>
          </a:prstGeom>
          <a:noFill/>
          <a:ln/>
        </p:spPr>
        <p:txBody>
          <a:bodyPr wrap="square" lIns="0" tIns="0" rIns="0" bIns="0" rtlCol="0" anchor="t"/>
          <a:lstStyle/>
          <a:p>
            <a:pPr indent="0" marL="0">
              <a:buNone/>
            </a:pPr>
            <a:r>
              <a:rPr lang="en-US" sz="1400" dirty="0">
                <a:solidFill>
                  <a:schemeClr val="tx1"/>
                </a:solidFill>
              </a:rPr>
              <a:t>“Diz-lhe: ele é lindo.” It repeats; he says “É.”</a:t>
            </a:r>
            <a:endParaRPr lang="en-US" sz="1400" dirty="0"/>
          </a:p>
        </p:txBody>
      </p:sp>
      <p:sp>
        <p:nvSpPr>
          <p:cNvPr id="23" name="Voice quote"/>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2000" i="1" dirty="0">
                <a:solidFill>
                  <a:schemeClr val="accent3"/>
                </a:solidFill>
                <a:latin typeface="Cambria" pitchFamily="34" charset="0"/>
                <a:ea typeface="Cambria" pitchFamily="34" charset="-122"/>
                <a:cs typeface="Cambria" pitchFamily="34" charset="-120"/>
              </a:rPr>
              <a:t>“Rude and safe. I prefer that to cheerful and wrong.”</a:t>
            </a:r>
            <a:endParaRPr lang="en-US" sz="2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Lessons and next steps</a:t>
            </a:r>
            <a:endParaRPr lang="en-US" sz="3200" dirty="0"/>
          </a:p>
        </p:txBody>
      </p:sp>
      <p:sp>
        <p:nvSpPr>
          <p:cNvPr id="3" name="Lessons label"/>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000" b="1" dirty="0">
                <a:solidFill>
                  <a:schemeClr val="accent4"/>
                </a:solidFill>
              </a:rPr>
              <a:t>Lessons so far</a:t>
            </a:r>
            <a:endParaRPr lang="en-US" sz="2000" dirty="0"/>
          </a:p>
        </p:txBody>
      </p:sp>
      <p:sp>
        <p:nvSpPr>
          <p:cNvPr id="4" name="Lessons"/>
          <p:cNvSpPr txBox="1"/>
          <p:nvPr/>
        </p:nvSpPr>
        <p:spPr>
          <a:xfrm>
            <a:off x="548640" y="1920240"/>
            <a:ext cx="5486400" cy="20574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Letting him host a game of bisca first put him in charge</a:t>
            </a:r>
            <a:endParaRPr lang="en-US" sz="1800" dirty="0"/>
          </a:p>
          <a:p>
            <a:pPr marL="342900" indent="-342900">
              <a:spcAft>
                <a:spcPts val="1000"/>
              </a:spcAft>
              <a:buSzPct val="100000"/>
              <a:buChar char="•"/>
            </a:pPr>
            <a:r>
              <a:rPr lang="en-US" sz="1800" dirty="0">
                <a:solidFill>
                  <a:schemeClr val="bg1"/>
                </a:solidFill>
              </a:rPr>
              <a:t>He needed things to refuse: decoy cards and blank cards made his choices clear</a:t>
            </a:r>
            <a:endParaRPr lang="en-US" sz="1800" dirty="0"/>
          </a:p>
          <a:p>
            <a:pPr marL="342900" indent="-342900">
              <a:spcAft>
                <a:spcPts val="1000"/>
              </a:spcAft>
              <a:buSzPct val="100000"/>
              <a:buChar char="•"/>
            </a:pPr>
            <a:r>
              <a:rPr lang="en-US" sz="1800" dirty="0">
                <a:solidFill>
                  <a:schemeClr val="bg1"/>
                </a:solidFill>
              </a:rPr>
              <a:t>We were wrong about one button: he needs red to end, or calls aren’t safe</a:t>
            </a:r>
            <a:endParaRPr lang="en-US" sz="1800" dirty="0"/>
          </a:p>
        </p:txBody>
      </p:sp>
      <p:sp>
        <p:nvSpPr>
          <p:cNvPr id="5" name="What he wants"/>
          <p:cNvSpPr txBox="1"/>
          <p:nvPr/>
        </p:nvSpPr>
        <p:spPr>
          <a:xfrm>
            <a:off x="548640" y="4069080"/>
            <a:ext cx="5486400" cy="731520"/>
          </a:xfrm>
          <a:prstGeom prst="rect">
            <a:avLst/>
          </a:prstGeom>
          <a:noFill/>
          <a:ln/>
        </p:spPr>
        <p:txBody>
          <a:bodyPr wrap="square" lIns="0" tIns="0" rIns="0" bIns="0" rtlCol="0" anchor="t"/>
          <a:lstStyle/>
          <a:p>
            <a:pPr indent="0" marL="0">
              <a:buNone/>
            </a:pPr>
            <a:r>
              <a:rPr lang="en-US" sz="1600" b="1" dirty="0">
                <a:solidFill>
                  <a:schemeClr val="accent4"/>
                </a:solidFill>
              </a:rPr>
              <a:t>What he wants: </a:t>
            </a:r>
            <a:pPr indent="0" marL="0">
              <a:buNone/>
            </a:pPr>
            <a:r>
              <a:rPr lang="en-US" sz="1600" dirty="0">
                <a:solidFill>
                  <a:schemeClr val="bg1"/>
                </a:solidFill>
              </a:rPr>
              <a:t>not a simpler phone, but his smartphone’s family features in a form he can use.</a:t>
            </a:r>
            <a:endParaRPr lang="en-US" sz="1600" dirty="0"/>
          </a:p>
        </p:txBody>
      </p:sp>
      <p:sp>
        <p:nvSpPr>
          <p:cNvPr id="6" name="Condition"/>
          <p:cNvSpPr txBox="1"/>
          <p:nvPr/>
        </p:nvSpPr>
        <p:spPr>
          <a:xfrm>
            <a:off x="548640" y="4846320"/>
            <a:ext cx="5486400" cy="731520"/>
          </a:xfrm>
          <a:prstGeom prst="rect">
            <a:avLst/>
          </a:prstGeom>
          <a:noFill/>
          <a:ln/>
        </p:spPr>
        <p:txBody>
          <a:bodyPr wrap="square" lIns="0" tIns="0" rIns="0" bIns="0" rtlCol="0" anchor="t"/>
          <a:lstStyle/>
          <a:p>
            <a:pPr indent="0" marL="0">
              <a:buNone/>
            </a:pPr>
            <a:r>
              <a:rPr lang="en-US" sz="1600" b="1" dirty="0">
                <a:solidFill>
                  <a:schemeClr val="accent4"/>
                </a:solidFill>
              </a:rPr>
              <a:t>His condition: </a:t>
            </a:r>
            <a:pPr indent="0" marL="0">
              <a:buNone/>
            </a:pPr>
            <a:r>
              <a:rPr lang="en-US" sz="1600" dirty="0">
                <a:solidFill>
                  <a:schemeClr val="bg1"/>
                </a:solidFill>
              </a:rPr>
              <a:t>the Nokia stays until calling his daughter on the new phone is as easy as its green button.</a:t>
            </a:r>
            <a:endParaRPr lang="en-US" sz="1600" dirty="0"/>
          </a:p>
        </p:txBody>
      </p:sp>
      <p:sp>
        <p:nvSpPr>
          <p:cNvPr id="7" name="Timeline line"/>
          <p:cNvSpPr/>
          <p:nvPr/>
        </p:nvSpPr>
        <p:spPr>
          <a:xfrm>
            <a:off x="7086600" y="1691640"/>
            <a:ext cx="0" cy="3291840"/>
          </a:xfrm>
          <a:prstGeom prst="line">
            <a:avLst/>
          </a:prstGeom>
          <a:noFill/>
          <a:ln w="25400">
            <a:solidFill>
              <a:schemeClr val="accent5"/>
            </a:solidFill>
            <a:prstDash val="solid"/>
          </a:ln>
        </p:spPr>
      </p:sp>
      <p:sp>
        <p:nvSpPr>
          <p:cNvPr id="8" name="Sessions 1 and 2 marker"/>
          <p:cNvSpPr/>
          <p:nvPr/>
        </p:nvSpPr>
        <p:spPr>
          <a:xfrm>
            <a:off x="6903720" y="1508760"/>
            <a:ext cx="365760" cy="365760"/>
          </a:xfrm>
          <a:prstGeom prst="ellipse">
            <a:avLst/>
          </a:prstGeom>
          <a:solidFill>
            <a:schemeClr val="accent1"/>
          </a:solidFill>
          <a:ln w="25400">
            <a:solidFill>
              <a:schemeClr val="accent1"/>
            </a:solidFill>
            <a:prstDash val="solid"/>
          </a:ln>
        </p:spPr>
      </p:sp>
      <p:sp>
        <p:nvSpPr>
          <p:cNvPr id="9" name="Sessions 1 and 2 name"/>
          <p:cNvSpPr txBox="1"/>
          <p:nvPr/>
        </p:nvSpPr>
        <p:spPr>
          <a:xfrm>
            <a:off x="7543800" y="1435608"/>
            <a:ext cx="4069080" cy="365760"/>
          </a:xfrm>
          <a:prstGeom prst="rect">
            <a:avLst/>
          </a:prstGeom>
          <a:noFill/>
          <a:ln/>
        </p:spPr>
        <p:txBody>
          <a:bodyPr wrap="square" lIns="0" tIns="0" rIns="0" bIns="0" rtlCol="0" anchor="ctr"/>
          <a:lstStyle/>
          <a:p>
            <a:pPr indent="0" marL="0">
              <a:buNone/>
            </a:pPr>
            <a:r>
              <a:rPr lang="en-US" sz="1800" b="1" dirty="0">
                <a:solidFill>
                  <a:schemeClr val="bg1"/>
                </a:solidFill>
              </a:rPr>
              <a:t>Sessions 1 and 2</a:t>
            </a:r>
            <a:endParaRPr lang="en-US" sz="1800" dirty="0"/>
          </a:p>
        </p:txBody>
      </p:sp>
      <p:sp>
        <p:nvSpPr>
          <p:cNvPr id="10" name="Sessions 1 and 2 when"/>
          <p:cNvSpPr txBox="1"/>
          <p:nvPr/>
        </p:nvSpPr>
        <p:spPr>
          <a:xfrm>
            <a:off x="7543800" y="1810512"/>
            <a:ext cx="4069080" cy="365760"/>
          </a:xfrm>
          <a:prstGeom prst="rect">
            <a:avLst/>
          </a:prstGeom>
          <a:noFill/>
          <a:ln/>
        </p:spPr>
        <p:txBody>
          <a:bodyPr wrap="square" lIns="0" tIns="0" rIns="0" bIns="0" rtlCol="0" anchor="ctr"/>
          <a:lstStyle/>
          <a:p>
            <a:pPr indent="0" marL="0">
              <a:buNone/>
            </a:pPr>
            <a:r>
              <a:rPr lang="en-US" sz="1400" dirty="0">
                <a:solidFill>
                  <a:schemeClr val="accent6"/>
                </a:solidFill>
              </a:rPr>
              <a:t>Done · problem signed, concept chosen</a:t>
            </a:r>
            <a:endParaRPr lang="en-US" sz="1400" dirty="0"/>
          </a:p>
        </p:txBody>
      </p:sp>
      <p:sp>
        <p:nvSpPr>
          <p:cNvPr id="11" name="Prototype marker"/>
          <p:cNvSpPr/>
          <p:nvPr/>
        </p:nvSpPr>
        <p:spPr>
          <a:xfrm>
            <a:off x="6903720" y="2606040"/>
            <a:ext cx="365760" cy="365760"/>
          </a:xfrm>
          <a:prstGeom prst="ellipse">
            <a:avLst/>
          </a:prstGeom>
          <a:solidFill>
            <a:schemeClr val="tx2"/>
          </a:solidFill>
          <a:ln w="25400">
            <a:solidFill>
              <a:schemeClr val="accent1"/>
            </a:solidFill>
            <a:prstDash val="solid"/>
          </a:ln>
        </p:spPr>
      </p:sp>
      <p:sp>
        <p:nvSpPr>
          <p:cNvPr id="12" name="Prototype name"/>
          <p:cNvSpPr txBox="1"/>
          <p:nvPr/>
        </p:nvSpPr>
        <p:spPr>
          <a:xfrm>
            <a:off x="7543800" y="2532888"/>
            <a:ext cx="4069080" cy="365760"/>
          </a:xfrm>
          <a:prstGeom prst="rect">
            <a:avLst/>
          </a:prstGeom>
          <a:noFill/>
          <a:ln/>
        </p:spPr>
        <p:txBody>
          <a:bodyPr wrap="square" lIns="0" tIns="0" rIns="0" bIns="0" rtlCol="0" anchor="ctr"/>
          <a:lstStyle/>
          <a:p>
            <a:pPr indent="0" marL="0">
              <a:buNone/>
            </a:pPr>
            <a:r>
              <a:rPr lang="en-US" sz="1800" b="1" dirty="0">
                <a:solidFill>
                  <a:schemeClr val="bg1"/>
                </a:solidFill>
              </a:rPr>
              <a:t>Prototype</a:t>
            </a:r>
            <a:endParaRPr lang="en-US" sz="1800" dirty="0"/>
          </a:p>
        </p:txBody>
      </p:sp>
      <p:sp>
        <p:nvSpPr>
          <p:cNvPr id="13" name="Prototype when"/>
          <p:cNvSpPr txBox="1"/>
          <p:nvPr/>
        </p:nvSpPr>
        <p:spPr>
          <a:xfrm>
            <a:off x="7543800" y="2907792"/>
            <a:ext cx="4069080" cy="365760"/>
          </a:xfrm>
          <a:prstGeom prst="rect">
            <a:avLst/>
          </a:prstGeom>
          <a:noFill/>
          <a:ln/>
        </p:spPr>
        <p:txBody>
          <a:bodyPr wrap="square" lIns="0" tIns="0" rIns="0" bIns="0" rtlCol="0" anchor="ctr"/>
          <a:lstStyle/>
          <a:p>
            <a:pPr indent="0" marL="0">
              <a:buNone/>
            </a:pPr>
            <a:r>
              <a:rPr lang="en-US" sz="1400" dirty="0">
                <a:solidFill>
                  <a:schemeClr val="accent6"/>
                </a:solidFill>
              </a:rPr>
              <a:t>12–15 Oct · cover, buttons and voice</a:t>
            </a:r>
            <a:endParaRPr lang="en-US" sz="1400" dirty="0"/>
          </a:p>
        </p:txBody>
      </p:sp>
      <p:sp>
        <p:nvSpPr>
          <p:cNvPr id="14" name="Session 3 marker"/>
          <p:cNvSpPr/>
          <p:nvPr/>
        </p:nvSpPr>
        <p:spPr>
          <a:xfrm>
            <a:off x="6903720" y="3703320"/>
            <a:ext cx="365760" cy="365760"/>
          </a:xfrm>
          <a:prstGeom prst="ellipse">
            <a:avLst/>
          </a:prstGeom>
          <a:solidFill>
            <a:schemeClr val="tx2"/>
          </a:solidFill>
          <a:ln w="25400">
            <a:solidFill>
              <a:schemeClr val="accent1"/>
            </a:solidFill>
            <a:prstDash val="solid"/>
          </a:ln>
        </p:spPr>
      </p:sp>
      <p:sp>
        <p:nvSpPr>
          <p:cNvPr id="15" name="Session 3 name"/>
          <p:cNvSpPr txBox="1"/>
          <p:nvPr/>
        </p:nvSpPr>
        <p:spPr>
          <a:xfrm>
            <a:off x="7543800" y="3630168"/>
            <a:ext cx="4069080" cy="365760"/>
          </a:xfrm>
          <a:prstGeom prst="rect">
            <a:avLst/>
          </a:prstGeom>
          <a:noFill/>
          <a:ln/>
        </p:spPr>
        <p:txBody>
          <a:bodyPr wrap="square" lIns="0" tIns="0" rIns="0" bIns="0" rtlCol="0" anchor="ctr"/>
          <a:lstStyle/>
          <a:p>
            <a:pPr indent="0" marL="0">
              <a:buNone/>
            </a:pPr>
            <a:r>
              <a:rPr lang="en-US" sz="1800" b="1" dirty="0">
                <a:solidFill>
                  <a:schemeClr val="bg1"/>
                </a:solidFill>
              </a:rPr>
              <a:t>Session 3</a:t>
            </a:r>
            <a:endParaRPr lang="en-US" sz="1800" dirty="0"/>
          </a:p>
        </p:txBody>
      </p:sp>
      <p:sp>
        <p:nvSpPr>
          <p:cNvPr id="16" name="Session 3 when"/>
          <p:cNvSpPr txBox="1"/>
          <p:nvPr/>
        </p:nvSpPr>
        <p:spPr>
          <a:xfrm>
            <a:off x="7543800" y="4005072"/>
            <a:ext cx="4069080" cy="365760"/>
          </a:xfrm>
          <a:prstGeom prst="rect">
            <a:avLst/>
          </a:prstGeom>
          <a:noFill/>
          <a:ln/>
        </p:spPr>
        <p:txBody>
          <a:bodyPr wrap="square" lIns="0" tIns="0" rIns="0" bIns="0" rtlCol="0" anchor="ctr"/>
          <a:lstStyle/>
          <a:p>
            <a:pPr indent="0" marL="0">
              <a:buNone/>
            </a:pPr>
            <a:r>
              <a:rPr lang="en-US" sz="1400" dirty="0">
                <a:solidFill>
                  <a:schemeClr val="accent6"/>
                </a:solidFill>
              </a:rPr>
              <a:t>By 16 Oct · test his storyboard at home</a:t>
            </a:r>
            <a:endParaRPr lang="en-US" sz="1400" dirty="0"/>
          </a:p>
        </p:txBody>
      </p:sp>
      <p:sp>
        <p:nvSpPr>
          <p:cNvPr id="17" name="Final presentation marker"/>
          <p:cNvSpPr/>
          <p:nvPr/>
        </p:nvSpPr>
        <p:spPr>
          <a:xfrm>
            <a:off x="6903720" y="4800600"/>
            <a:ext cx="365760" cy="365760"/>
          </a:xfrm>
          <a:prstGeom prst="ellipse">
            <a:avLst/>
          </a:prstGeom>
          <a:solidFill>
            <a:schemeClr val="tx2"/>
          </a:solidFill>
          <a:ln w="25400">
            <a:solidFill>
              <a:schemeClr val="accent1"/>
            </a:solidFill>
            <a:prstDash val="solid"/>
          </a:ln>
        </p:spPr>
      </p:sp>
      <p:sp>
        <p:nvSpPr>
          <p:cNvPr id="18" name="Final presentation name"/>
          <p:cNvSpPr txBox="1"/>
          <p:nvPr/>
        </p:nvSpPr>
        <p:spPr>
          <a:xfrm>
            <a:off x="7543800" y="4727448"/>
            <a:ext cx="4069080" cy="365760"/>
          </a:xfrm>
          <a:prstGeom prst="rect">
            <a:avLst/>
          </a:prstGeom>
          <a:noFill/>
          <a:ln/>
        </p:spPr>
        <p:txBody>
          <a:bodyPr wrap="square" lIns="0" tIns="0" rIns="0" bIns="0" rtlCol="0" anchor="ctr"/>
          <a:lstStyle/>
          <a:p>
            <a:pPr indent="0" marL="0">
              <a:buNone/>
            </a:pPr>
            <a:r>
              <a:rPr lang="en-US" sz="1800" b="1" dirty="0">
                <a:solidFill>
                  <a:schemeClr val="bg1"/>
                </a:solidFill>
              </a:rPr>
              <a:t>Final presentation</a:t>
            </a:r>
            <a:endParaRPr lang="en-US" sz="1800" dirty="0"/>
          </a:p>
        </p:txBody>
      </p:sp>
      <p:sp>
        <p:nvSpPr>
          <p:cNvPr id="19" name="Final presentation when"/>
          <p:cNvSpPr txBox="1"/>
          <p:nvPr/>
        </p:nvSpPr>
        <p:spPr>
          <a:xfrm>
            <a:off x="7543800" y="5102352"/>
            <a:ext cx="4069080" cy="365760"/>
          </a:xfrm>
          <a:prstGeom prst="rect">
            <a:avLst/>
          </a:prstGeom>
          <a:noFill/>
          <a:ln/>
        </p:spPr>
        <p:txBody>
          <a:bodyPr wrap="square" lIns="0" tIns="0" rIns="0" bIns="0" rtlCol="0" anchor="ctr"/>
          <a:lstStyle/>
          <a:p>
            <a:pPr indent="0" marL="0">
              <a:buNone/>
            </a:pPr>
            <a:r>
              <a:rPr lang="en-US" sz="1400" dirty="0">
                <a:solidFill>
                  <a:schemeClr val="accent6"/>
                </a:solidFill>
              </a:rPr>
              <a:t>Week of 19 Oct · he may come and speak</a:t>
            </a:r>
            <a:endParaRPr lang="en-US" sz="1400" dirty="0"/>
          </a:p>
        </p:txBody>
      </p:sp>
      <p:sp>
        <p:nvSpPr>
          <p:cNvPr id="20" name="Thanks"/>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2000" b="1" dirty="0">
                <a:solidFill>
                  <a:schemeClr val="bg1"/>
                </a:solidFill>
              </a:rPr>
              <a:t>Thank you. We would love your feedback.</a:t>
            </a:r>
            <a:endParaRPr lang="en-US" sz="2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taying in Touch">
  <a:themeElements>
    <a:clrScheme name="Staying in Touch">
      <a:dk1>
        <a:srgbClr val="1F1A24"/>
      </a:dk1>
      <a:lt1>
        <a:srgbClr val="FFFFFF"/>
      </a:lt1>
      <a:dk2>
        <a:srgbClr val="2B2440"/>
      </a:dk2>
      <a:lt2>
        <a:srgbClr val="F2F0F6"/>
      </a:lt2>
      <a:accent1>
        <a:srgbClr val="E4572E"/>
      </a:accent1>
      <a:accent2>
        <a:srgbClr val="17766B"/>
      </a:accent2>
      <a:accent3>
        <a:srgbClr val="B23A1C"/>
      </a:accent3>
      <a:accent4>
        <a:srgbClr val="F2A541"/>
      </a:accent4>
      <a:accent5>
        <a:srgbClr val="6B6478"/>
      </a:accent5>
      <a:accent6>
        <a:srgbClr val="DCD7E6"/>
      </a:accent6>
      <a:hlink>
        <a:srgbClr val="17766B"/>
      </a:hlink>
      <a:folHlink>
        <a:srgbClr val="6B6478"/>
      </a:folHlink>
    </a:clrScheme>
    <a:fontScheme name="Staying in Tou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Staying in touch, simply — mid-term presentation</dc:title>
  <dc:subject>PptxGenJS Presentation</dc:subject>
  <dc:creator>Henrique Rodrigues, João Rocha</dc:creator>
  <cp:lastModifiedBy>Henrique Rodrigues, João Rocha</cp:lastModifiedBy>
  <cp:revision>1</cp:revision>
  <dcterms:created xsi:type="dcterms:W3CDTF">2026-10-06T08:59:44Z</dcterms:created>
  <dcterms:modified xsi:type="dcterms:W3CDTF">2026-10-06T08:59:44Z</dcterms:modified>
</cp:coreProperties>
</file>