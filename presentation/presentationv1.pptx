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F1A24"/>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F1A24"/>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F1A24"/>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F1A24"/>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F1A24"/>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F1A24"/>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F1A24"/>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F1A24"/>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F1A24"/>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1F1A24"/>
        </a:fontRef>
        <a:srgbClr val="1F1A24"/>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5D0CC"/>
          </a:solidFill>
        </a:fill>
      </a:tcStyle>
    </a:wholeTbl>
    <a:band2H>
      <a:tcTxStyle b="def" i="def"/>
      <a:tcStyle>
        <a:tcBdr/>
        <a:fill>
          <a:solidFill>
            <a:srgbClr val="FAE9E7"/>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1F1A24"/>
        </a:fontRef>
        <a:srgbClr val="1F1A24"/>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4CDCB"/>
          </a:solidFill>
        </a:fill>
      </a:tcStyle>
    </a:wholeTbl>
    <a:band2H>
      <a:tcTxStyle b="def" i="def"/>
      <a:tcStyle>
        <a:tcBdr/>
        <a:fill>
          <a:solidFill>
            <a:srgbClr val="F2E7E7"/>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1F1A24"/>
        </a:fontRef>
        <a:srgbClr val="1F1A24"/>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2F0F5"/>
          </a:solidFill>
        </a:fill>
      </a:tcStyle>
    </a:wholeTbl>
    <a:band2H>
      <a:tcTxStyle b="def" i="def"/>
      <a:tcStyle>
        <a:tcBdr/>
        <a:fill>
          <a:solidFill>
            <a:srgbClr val="F8F8FA"/>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1F1A24"/>
        </a:fontRef>
        <a:srgbClr val="1F1A24"/>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7E7E7"/>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1F1A24"/>
        </a:fontRef>
        <a:srgbClr val="1F1A24"/>
      </a:tcTxStyle>
      <a:tcStyle>
        <a:tcBdr>
          <a:left>
            <a:ln w="12700" cap="flat">
              <a:noFill/>
              <a:miter lim="400000"/>
            </a:ln>
          </a:left>
          <a:right>
            <a:ln w="12700" cap="flat">
              <a:noFill/>
              <a:miter lim="400000"/>
            </a:ln>
          </a:right>
          <a:top>
            <a:ln w="50800" cap="flat">
              <a:solidFill>
                <a:srgbClr val="1F1A24"/>
              </a:solidFill>
              <a:prstDash val="solid"/>
              <a:round/>
            </a:ln>
          </a:top>
          <a:bottom>
            <a:ln w="25400" cap="flat">
              <a:solidFill>
                <a:srgbClr val="1F1A24"/>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1F1A24"/>
              </a:solidFill>
              <a:prstDash val="solid"/>
              <a:round/>
            </a:ln>
          </a:top>
          <a:bottom>
            <a:ln w="25400" cap="flat">
              <a:solidFill>
                <a:srgbClr val="1F1A24"/>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1F1A24"/>
        </a:fontRef>
        <a:srgbClr val="1F1A24"/>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BCBCB"/>
          </a:solidFill>
        </a:fill>
      </a:tcStyle>
    </a:wholeTbl>
    <a:band2H>
      <a:tcTxStyle b="def" i="def"/>
      <a:tcStyle>
        <a:tcBdr/>
        <a:fill>
          <a:solidFill>
            <a:srgbClr val="E7E7E7"/>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1F1A24"/>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1F1A24"/>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1F1A24"/>
          </a:solidFill>
        </a:fill>
      </a:tcStyle>
    </a:firstRow>
  </a:tblStyle>
  <a:tblStyle styleId="{2708684C-4D16-4618-839F-0558EEFCDFE6}" styleName="">
    <a:tblBg/>
    <a:wholeTbl>
      <a:tcTxStyle b="off" i="off">
        <a:fontRef idx="major">
          <a:srgbClr val="1F1A24"/>
        </a:fontRef>
        <a:srgbClr val="1F1A24"/>
      </a:tcTxStyle>
      <a:tcStyle>
        <a:tcBdr>
          <a:left>
            <a:ln w="12700" cap="flat">
              <a:solidFill>
                <a:srgbClr val="1F1A24"/>
              </a:solidFill>
              <a:prstDash val="solid"/>
              <a:round/>
            </a:ln>
          </a:left>
          <a:right>
            <a:ln w="12700" cap="flat">
              <a:solidFill>
                <a:srgbClr val="1F1A24"/>
              </a:solidFill>
              <a:prstDash val="solid"/>
              <a:round/>
            </a:ln>
          </a:right>
          <a:top>
            <a:ln w="12700" cap="flat">
              <a:solidFill>
                <a:srgbClr val="1F1A24"/>
              </a:solidFill>
              <a:prstDash val="solid"/>
              <a:round/>
            </a:ln>
          </a:top>
          <a:bottom>
            <a:ln w="12700" cap="flat">
              <a:solidFill>
                <a:srgbClr val="1F1A24"/>
              </a:solidFill>
              <a:prstDash val="solid"/>
              <a:round/>
            </a:ln>
          </a:bottom>
          <a:insideH>
            <a:ln w="12700" cap="flat">
              <a:solidFill>
                <a:srgbClr val="1F1A24"/>
              </a:solidFill>
              <a:prstDash val="solid"/>
              <a:round/>
            </a:ln>
          </a:insideH>
          <a:insideV>
            <a:ln w="12700" cap="flat">
              <a:solidFill>
                <a:srgbClr val="1F1A24"/>
              </a:solidFill>
              <a:prstDash val="solid"/>
              <a:round/>
            </a:ln>
          </a:insideV>
        </a:tcBdr>
        <a:fill>
          <a:solidFill>
            <a:srgbClr val="1F1A24">
              <a:alpha val="20000"/>
            </a:srgbClr>
          </a:solidFill>
        </a:fill>
      </a:tcStyle>
    </a:wholeTbl>
    <a:band2H>
      <a:tcTxStyle b="def" i="def"/>
      <a:tcStyle>
        <a:tcBdr/>
        <a:fill>
          <a:solidFill>
            <a:srgbClr val="FFFFFF"/>
          </a:solidFill>
        </a:fill>
      </a:tcStyle>
    </a:band2H>
    <a:firstCol>
      <a:tcTxStyle b="on" i="off">
        <a:fontRef idx="major">
          <a:srgbClr val="1F1A24"/>
        </a:fontRef>
        <a:srgbClr val="1F1A24"/>
      </a:tcTxStyle>
      <a:tcStyle>
        <a:tcBdr>
          <a:left>
            <a:ln w="12700" cap="flat">
              <a:solidFill>
                <a:srgbClr val="1F1A24"/>
              </a:solidFill>
              <a:prstDash val="solid"/>
              <a:round/>
            </a:ln>
          </a:left>
          <a:right>
            <a:ln w="12700" cap="flat">
              <a:solidFill>
                <a:srgbClr val="1F1A24"/>
              </a:solidFill>
              <a:prstDash val="solid"/>
              <a:round/>
            </a:ln>
          </a:right>
          <a:top>
            <a:ln w="12700" cap="flat">
              <a:solidFill>
                <a:srgbClr val="1F1A24"/>
              </a:solidFill>
              <a:prstDash val="solid"/>
              <a:round/>
            </a:ln>
          </a:top>
          <a:bottom>
            <a:ln w="12700" cap="flat">
              <a:solidFill>
                <a:srgbClr val="1F1A24"/>
              </a:solidFill>
              <a:prstDash val="solid"/>
              <a:round/>
            </a:ln>
          </a:bottom>
          <a:insideH>
            <a:ln w="12700" cap="flat">
              <a:solidFill>
                <a:srgbClr val="1F1A24"/>
              </a:solidFill>
              <a:prstDash val="solid"/>
              <a:round/>
            </a:ln>
          </a:insideH>
          <a:insideV>
            <a:ln w="12700" cap="flat">
              <a:solidFill>
                <a:srgbClr val="1F1A24"/>
              </a:solidFill>
              <a:prstDash val="solid"/>
              <a:round/>
            </a:ln>
          </a:insideV>
        </a:tcBdr>
        <a:fill>
          <a:solidFill>
            <a:srgbClr val="1F1A24">
              <a:alpha val="20000"/>
            </a:srgbClr>
          </a:solidFill>
        </a:fill>
      </a:tcStyle>
    </a:firstCol>
    <a:lastRow>
      <a:tcTxStyle b="on" i="off">
        <a:fontRef idx="major">
          <a:srgbClr val="1F1A24"/>
        </a:fontRef>
        <a:srgbClr val="1F1A24"/>
      </a:tcTxStyle>
      <a:tcStyle>
        <a:tcBdr>
          <a:left>
            <a:ln w="12700" cap="flat">
              <a:solidFill>
                <a:srgbClr val="1F1A24"/>
              </a:solidFill>
              <a:prstDash val="solid"/>
              <a:round/>
            </a:ln>
          </a:left>
          <a:right>
            <a:ln w="12700" cap="flat">
              <a:solidFill>
                <a:srgbClr val="1F1A24"/>
              </a:solidFill>
              <a:prstDash val="solid"/>
              <a:round/>
            </a:ln>
          </a:right>
          <a:top>
            <a:ln w="50800" cap="flat">
              <a:solidFill>
                <a:srgbClr val="1F1A24"/>
              </a:solidFill>
              <a:prstDash val="solid"/>
              <a:round/>
            </a:ln>
          </a:top>
          <a:bottom>
            <a:ln w="12700" cap="flat">
              <a:solidFill>
                <a:srgbClr val="1F1A24"/>
              </a:solidFill>
              <a:prstDash val="solid"/>
              <a:round/>
            </a:ln>
          </a:bottom>
          <a:insideH>
            <a:ln w="12700" cap="flat">
              <a:solidFill>
                <a:srgbClr val="1F1A24"/>
              </a:solidFill>
              <a:prstDash val="solid"/>
              <a:round/>
            </a:ln>
          </a:insideH>
          <a:insideV>
            <a:ln w="12700" cap="flat">
              <a:solidFill>
                <a:srgbClr val="1F1A24"/>
              </a:solidFill>
              <a:prstDash val="solid"/>
              <a:round/>
            </a:ln>
          </a:insideV>
        </a:tcBdr>
        <a:fill>
          <a:noFill/>
        </a:fill>
      </a:tcStyle>
    </a:lastRow>
    <a:firstRow>
      <a:tcTxStyle b="on" i="off">
        <a:fontRef idx="major">
          <a:srgbClr val="1F1A24"/>
        </a:fontRef>
        <a:srgbClr val="1F1A24"/>
      </a:tcTxStyle>
      <a:tcStyle>
        <a:tcBdr>
          <a:left>
            <a:ln w="12700" cap="flat">
              <a:solidFill>
                <a:srgbClr val="1F1A24"/>
              </a:solidFill>
              <a:prstDash val="solid"/>
              <a:round/>
            </a:ln>
          </a:left>
          <a:right>
            <a:ln w="12700" cap="flat">
              <a:solidFill>
                <a:srgbClr val="1F1A24"/>
              </a:solidFill>
              <a:prstDash val="solid"/>
              <a:round/>
            </a:ln>
          </a:right>
          <a:top>
            <a:ln w="12700" cap="flat">
              <a:solidFill>
                <a:srgbClr val="1F1A24"/>
              </a:solidFill>
              <a:prstDash val="solid"/>
              <a:round/>
            </a:ln>
          </a:top>
          <a:bottom>
            <a:ln w="25400" cap="flat">
              <a:solidFill>
                <a:srgbClr val="1F1A24"/>
              </a:solidFill>
              <a:prstDash val="solid"/>
              <a:round/>
            </a:ln>
          </a:bottom>
          <a:insideH>
            <a:ln w="12700" cap="flat">
              <a:solidFill>
                <a:srgbClr val="1F1A24"/>
              </a:solidFill>
              <a:prstDash val="solid"/>
              <a:round/>
            </a:ln>
          </a:insideH>
          <a:insideV>
            <a:ln w="12700" cap="flat">
              <a:solidFill>
                <a:srgbClr val="1F1A24"/>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43" name="Shape 43"/>
          <p:cNvSpPr/>
          <p:nvPr>
            <p:ph type="sldImg"/>
          </p:nvPr>
        </p:nvSpPr>
        <p:spPr>
          <a:xfrm>
            <a:off x="1143000" y="685800"/>
            <a:ext cx="4572000" cy="3429000"/>
          </a:xfrm>
          <a:prstGeom prst="rect">
            <a:avLst/>
          </a:prstGeom>
        </p:spPr>
        <p:txBody>
          <a:bodyPr/>
          <a:lstStyle/>
          <a:p>
            <a:pPr/>
          </a:p>
        </p:txBody>
      </p:sp>
      <p:sp>
        <p:nvSpPr>
          <p:cNvPr id="44" name="Shape 44"/>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solidFill>
          <a:srgbClr val="1F1A24"/>
        </a:solidFill>
        <a:latin typeface="+mj-lt"/>
        <a:ea typeface="+mj-ea"/>
        <a:cs typeface="+mj-cs"/>
        <a:sym typeface="Calibri"/>
      </a:defRPr>
    </a:lvl1pPr>
    <a:lvl2pPr indent="228600" latinLnBrk="0">
      <a:defRPr sz="1200">
        <a:solidFill>
          <a:srgbClr val="1F1A24"/>
        </a:solidFill>
        <a:latin typeface="+mj-lt"/>
        <a:ea typeface="+mj-ea"/>
        <a:cs typeface="+mj-cs"/>
        <a:sym typeface="Calibri"/>
      </a:defRPr>
    </a:lvl2pPr>
    <a:lvl3pPr indent="457200" latinLnBrk="0">
      <a:defRPr sz="1200">
        <a:solidFill>
          <a:srgbClr val="1F1A24"/>
        </a:solidFill>
        <a:latin typeface="+mj-lt"/>
        <a:ea typeface="+mj-ea"/>
        <a:cs typeface="+mj-cs"/>
        <a:sym typeface="Calibri"/>
      </a:defRPr>
    </a:lvl3pPr>
    <a:lvl4pPr indent="685800" latinLnBrk="0">
      <a:defRPr sz="1200">
        <a:solidFill>
          <a:srgbClr val="1F1A24"/>
        </a:solidFill>
        <a:latin typeface="+mj-lt"/>
        <a:ea typeface="+mj-ea"/>
        <a:cs typeface="+mj-cs"/>
        <a:sym typeface="Calibri"/>
      </a:defRPr>
    </a:lvl4pPr>
    <a:lvl5pPr indent="914400" latinLnBrk="0">
      <a:defRPr sz="1200">
        <a:solidFill>
          <a:srgbClr val="1F1A24"/>
        </a:solidFill>
        <a:latin typeface="+mj-lt"/>
        <a:ea typeface="+mj-ea"/>
        <a:cs typeface="+mj-cs"/>
        <a:sym typeface="Calibri"/>
      </a:defRPr>
    </a:lvl5pPr>
    <a:lvl6pPr indent="1143000" latinLnBrk="0">
      <a:defRPr sz="1200">
        <a:solidFill>
          <a:srgbClr val="1F1A24"/>
        </a:solidFill>
        <a:latin typeface="+mj-lt"/>
        <a:ea typeface="+mj-ea"/>
        <a:cs typeface="+mj-cs"/>
        <a:sym typeface="Calibri"/>
      </a:defRPr>
    </a:lvl6pPr>
    <a:lvl7pPr indent="1371600" latinLnBrk="0">
      <a:defRPr sz="1200">
        <a:solidFill>
          <a:srgbClr val="1F1A24"/>
        </a:solidFill>
        <a:latin typeface="+mj-lt"/>
        <a:ea typeface="+mj-ea"/>
        <a:cs typeface="+mj-cs"/>
        <a:sym typeface="Calibri"/>
      </a:defRPr>
    </a:lvl7pPr>
    <a:lvl8pPr indent="1600200" latinLnBrk="0">
      <a:defRPr sz="1200">
        <a:solidFill>
          <a:srgbClr val="1F1A24"/>
        </a:solidFill>
        <a:latin typeface="+mj-lt"/>
        <a:ea typeface="+mj-ea"/>
        <a:cs typeface="+mj-cs"/>
        <a:sym typeface="Calibri"/>
      </a:defRPr>
    </a:lvl8pPr>
    <a:lvl9pPr indent="1828800" latinLnBrk="0">
      <a:defRPr sz="1200">
        <a:solidFill>
          <a:srgbClr val="1F1A24"/>
        </a:solidFill>
        <a:latin typeface="+mj-lt"/>
        <a:ea typeface="+mj-ea"/>
        <a:cs typeface="+mj-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3" name="Shape 53"/>
          <p:cNvSpPr/>
          <p:nvPr>
            <p:ph type="sldImg"/>
          </p:nvPr>
        </p:nvSpPr>
        <p:spPr>
          <a:prstGeom prst="rect">
            <a:avLst/>
          </a:prstGeom>
        </p:spPr>
        <p:txBody>
          <a:bodyPr/>
          <a:lstStyle/>
          <a:p>
            <a:pPr/>
          </a:p>
        </p:txBody>
      </p:sp>
      <p:sp>
        <p:nvSpPr>
          <p:cNvPr id="54" name="Shape 54"/>
          <p:cNvSpPr/>
          <p:nvPr>
            <p:ph type="body" sz="quarter" idx="1"/>
          </p:nvPr>
        </p:nvSpPr>
        <p:spPr>
          <a:prstGeom prst="rect">
            <a:avLst/>
          </a:prstGeom>
        </p:spPr>
        <p:txBody>
          <a:bodyPr/>
          <a:lstStyle/>
          <a:p>
            <a:pPr/>
            <a:r>
              <a:t>Henrique (0:15). Hi, I'm Henrique, and this is João. Our project is Staying in touch, simply: we're co-designing, with an older adult, a way for him to use the smartphone his family gave him. [Click]</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0" name="Shape 80"/>
          <p:cNvSpPr/>
          <p:nvPr>
            <p:ph type="sldImg"/>
          </p:nvPr>
        </p:nvSpPr>
        <p:spPr>
          <a:prstGeom prst="rect">
            <a:avLst/>
          </a:prstGeom>
        </p:spPr>
        <p:txBody>
          <a:bodyPr/>
          <a:lstStyle/>
          <a:p>
            <a:pPr/>
          </a:p>
        </p:txBody>
      </p:sp>
      <p:sp>
        <p:nvSpPr>
          <p:cNvPr id="81" name="Shape 81"/>
          <p:cNvSpPr/>
          <p:nvPr>
            <p:ph type="body" sz="quarter" idx="1"/>
          </p:nvPr>
        </p:nvSpPr>
        <p:spPr>
          <a:prstGeom prst="rect">
            <a:avLst/>
          </a:prstGeom>
        </p:spPr>
        <p:txBody>
          <a:bodyPr/>
          <a:lstStyle/>
          <a:p>
            <a:pPr/>
            <a:r>
              <a:t>Henrique (0:20). We follow the Double Diamond. In session one we explored and defined the problem with him; in session two he developed the ideas with us. Next we build the prototype, and session three tests it with him by October 16th. [Click]</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0" name="Shape 100"/>
          <p:cNvSpPr/>
          <p:nvPr>
            <p:ph type="sldImg"/>
          </p:nvPr>
        </p:nvSpPr>
        <p:spPr>
          <a:prstGeom prst="rect">
            <a:avLst/>
          </a:prstGeom>
        </p:spPr>
        <p:txBody>
          <a:bodyPr/>
          <a:lstStyle/>
          <a:p>
            <a:pPr/>
          </a:p>
        </p:txBody>
      </p:sp>
      <p:sp>
        <p:nvSpPr>
          <p:cNvPr id="101" name="Shape 101"/>
          <p:cNvSpPr/>
          <p:nvPr>
            <p:ph type="body" sz="quarter" idx="1"/>
          </p:nvPr>
        </p:nvSpPr>
        <p:spPr>
          <a:prstGeom prst="rect">
            <a:avLst/>
          </a:prstGeom>
        </p:spPr>
        <p:txBody>
          <a:bodyPr/>
          <a:lstStyle/>
          <a:p>
            <a:pPr/>
            <a:r>
              <a:t>Henrique (0:40). This is Manuel, a pseudonym. He's eighty and lives alone in Lisbon. In July his daughter bought him a smartphone so he could join the family WhatsApp group, where the photos of his newborn great-grandson are. He doesn't know how to work it: his taps are too short, gestures do the opposite of what he expects, and the keyboard opens by accident. So it sits uncharged in a drawer. In his words: “They already got it. They did not get me a way to work it.” He corrected our problem statement twice before signing it. [Hand over: “João.” Click]</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2" name="Shape 122"/>
          <p:cNvSpPr/>
          <p:nvPr>
            <p:ph type="sldImg"/>
          </p:nvPr>
        </p:nvSpPr>
        <p:spPr>
          <a:prstGeom prst="rect">
            <a:avLst/>
          </a:prstGeom>
        </p:spPr>
        <p:txBody>
          <a:bodyPr/>
          <a:lstStyle/>
          <a:p>
            <a:pPr/>
          </a:p>
        </p:txBody>
      </p:sp>
      <p:sp>
        <p:nvSpPr>
          <p:cNvPr id="123" name="Shape 123"/>
          <p:cNvSpPr/>
          <p:nvPr>
            <p:ph type="body" sz="quarter" idx="1"/>
          </p:nvPr>
        </p:nvSpPr>
        <p:spPr>
          <a:prstGeom prst="rect">
            <a:avLst/>
          </a:prstGeom>
        </p:spPr>
        <p:txBody>
          <a:bodyPr/>
          <a:lstStyle/>
          <a:p>
            <a:pPr/>
            <a:r>
              <a:t>João (0:30). Manuel isn't alone. Portugal has the second-oldest population in the EU: 24.3 percent of people are 65 or older. Among 65- to 74-year-olds, 36 percent have never used the internet, more than twice the EU share, and over half a million older people live alone. Current options don't fit him: minimal phones drop WhatsApp, simplified modes leave it in its usual design, and Alexa and Google don't speak European Portuguese. [Click]</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9" name="Shape 149"/>
          <p:cNvSpPr/>
          <p:nvPr>
            <p:ph type="sldImg"/>
          </p:nvPr>
        </p:nvSpPr>
        <p:spPr>
          <a:prstGeom prst="rect">
            <a:avLst/>
          </a:prstGeom>
        </p:spPr>
        <p:txBody>
          <a:bodyPr/>
          <a:lstStyle/>
          <a:p>
            <a:pPr/>
          </a:p>
        </p:txBody>
      </p:sp>
      <p:sp>
        <p:nvSpPr>
          <p:cNvPr id="150" name="Shape 150"/>
          <p:cNvSpPr/>
          <p:nvPr>
            <p:ph type="body" sz="quarter" idx="1"/>
          </p:nvPr>
        </p:nvSpPr>
        <p:spPr>
          <a:prstGeom prst="rect">
            <a:avLst/>
          </a:prstGeom>
        </p:spPr>
        <p:txBody>
          <a:bodyPr/>
          <a:lstStyle/>
          <a:p>
            <a:pPr/>
            <a:r>
              <a:t>João (0:30). Session one took about seventy minutes in his kitchen. We used directed storytelling, a tour of both his phones, and a communication map. We adapted to him: before any question he made us play bisca, and he beat us. We read the consent form aloud in plain Portuguese, only one of us asked at a time, and he placed every dot on the map himself. [Click]</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7" name="Shape 157"/>
          <p:cNvSpPr/>
          <p:nvPr>
            <p:ph type="sldImg"/>
          </p:nvPr>
        </p:nvSpPr>
        <p:spPr>
          <a:prstGeom prst="rect">
            <a:avLst/>
          </a:prstGeom>
        </p:spPr>
        <p:txBody>
          <a:bodyPr/>
          <a:lstStyle/>
          <a:p>
            <a:pPr/>
          </a:p>
        </p:txBody>
      </p:sp>
      <p:sp>
        <p:nvSpPr>
          <p:cNvPr id="158" name="Shape 158"/>
          <p:cNvSpPr/>
          <p:nvPr>
            <p:ph type="body" sz="quarter" idx="1"/>
          </p:nvPr>
        </p:nvSpPr>
        <p:spPr>
          <a:prstGeom prst="rect">
            <a:avLst/>
          </a:prstGeom>
        </p:spPr>
        <p:txBody>
          <a:bodyPr/>
          <a:lstStyle/>
          <a:p>
            <a:pPr/>
            <a:r>
              <a:t>João (0:35). Four things we learned, in his words. The smartphone confuses him: when a pinch shrank the text, he said “I broke the letters.” But he won't refuse it like his sister did, “because the refusal includes the baby.” The family's news lives in the group: he went to a blood test at the wrong hour because the change was only written there. And after an “olá pai” scam text, he wants the sender's name before anything else. [Hand over: “Henrique.” Click]</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3" name="Shape 173"/>
          <p:cNvSpPr/>
          <p:nvPr>
            <p:ph type="sldImg"/>
          </p:nvPr>
        </p:nvSpPr>
        <p:spPr>
          <a:prstGeom prst="rect">
            <a:avLst/>
          </a:prstGeom>
        </p:spPr>
        <p:txBody>
          <a:bodyPr/>
          <a:lstStyle/>
          <a:p>
            <a:pPr/>
          </a:p>
        </p:txBody>
      </p:sp>
      <p:sp>
        <p:nvSpPr>
          <p:cNvPr id="174" name="Shape 174"/>
          <p:cNvSpPr/>
          <p:nvPr>
            <p:ph type="body" sz="quarter" idx="1"/>
          </p:nvPr>
        </p:nvSpPr>
        <p:spPr>
          <a:prstGeom prst="rect">
            <a:avLst/>
          </a:prstGeom>
        </p:spPr>
        <p:txBody>
          <a:bodyPr/>
          <a:lstStyle/>
          <a:p>
            <a:pPr/>
            <a:r>
              <a:t>Henrique (0:30). In session two, he decided what it should be. We gave him sixteen cards, each one a smartphone feature. He kept the ones about his family: today's photo, messages read aloud, knowing a scam, calls, and short spoken replies. He also wrote two cards of his own: the name before the photo, and only people his daughter saved. He threw out the torch, the weather and the radio. As he put it: “Do not get confused and build me a nicer Nokia.” [Click]</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9" name="Shape 199"/>
          <p:cNvSpPr/>
          <p:nvPr>
            <p:ph type="sldImg"/>
          </p:nvPr>
        </p:nvSpPr>
        <p:spPr>
          <a:prstGeom prst="rect">
            <a:avLst/>
          </a:prstGeom>
        </p:spPr>
        <p:txBody>
          <a:bodyPr/>
          <a:lstStyle/>
          <a:p>
            <a:pPr/>
          </a:p>
        </p:txBody>
      </p:sp>
      <p:sp>
        <p:nvSpPr>
          <p:cNvPr id="200" name="Shape 200"/>
          <p:cNvSpPr/>
          <p:nvPr>
            <p:ph type="body" sz="quarter" idx="1"/>
          </p:nvPr>
        </p:nvSpPr>
        <p:spPr>
          <a:prstGeom prst="rect">
            <a:avLst/>
          </a:prstGeom>
        </p:spPr>
        <p:txBody>
          <a:bodyPr/>
          <a:lstStyle/>
          <a:p>
            <a:pPr/>
            <a:r>
              <a:t>João (0:30). In a role-play I was the phone's voice while he pressed a cardboard button. He corrected me straight away: no greeting. Say the name first, then one sentence, then stay quiet while he looks. Unknown senders never get a photo. And after two misunderstandings I should do nothing: “Rude and safe. I prefer that to cheerful and wrong.” His storyboard is the morning his great-grandson's photo arrives, and he answers: ele é lindo, he's beautiful. [Hand over: “Henrique.” Click]</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2" name="Shape 222"/>
          <p:cNvSpPr/>
          <p:nvPr>
            <p:ph type="sldImg"/>
          </p:nvPr>
        </p:nvSpPr>
        <p:spPr>
          <a:prstGeom prst="rect">
            <a:avLst/>
          </a:prstGeom>
        </p:spPr>
        <p:txBody>
          <a:bodyPr/>
          <a:lstStyle/>
          <a:p>
            <a:pPr/>
          </a:p>
        </p:txBody>
      </p:sp>
      <p:sp>
        <p:nvSpPr>
          <p:cNvPr id="223" name="Shape 223"/>
          <p:cNvSpPr/>
          <p:nvPr>
            <p:ph type="body" sz="quarter" idx="1"/>
          </p:nvPr>
        </p:nvSpPr>
        <p:spPr>
          <a:prstGeom prst="rect">
            <a:avLst/>
          </a:prstGeom>
        </p:spPr>
        <p:txBody>
          <a:bodyPr/>
          <a:lstStyle/>
          <a:p>
            <a:pPr/>
            <a:r>
              <a:t>Henrique (0:35). Three lessons. Letting him host a game first put him in charge. He needed things to refuse, so decoy and blank cards made his choices clear. And we were wrong about one button: without a red one to end, calls aren't safe for him. What he wants isn't a simpler phone, but his smartphone's family features in a form he can use. Next we build it, test it with him by the sixteenth, and he may join our final presentation. Thank you. [Pause, then invite questions]</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DARK">
    <p:bg>
      <p:bgPr>
        <a:solidFill>
          <a:srgbClr val="2B2440"/>
        </a:solidFill>
      </p:bgPr>
    </p:bg>
    <p:spTree>
      <p:nvGrpSpPr>
        <p:cNvPr id="1" name=""/>
        <p:cNvGrpSpPr/>
        <p:nvPr/>
      </p:nvGrpSpPr>
      <p:grpSpPr>
        <a:xfrm>
          <a:off x="0" y="0"/>
          <a:ext cx="0" cy="0"/>
          <a:chOff x="0" y="0"/>
          <a:chExt cx="0" cy="0"/>
        </a:xfrm>
      </p:grpSpPr>
      <p:sp>
        <p:nvSpPr>
          <p:cNvPr id="18" name="Click to add title"/>
          <p:cNvSpPr txBox="1"/>
          <p:nvPr>
            <p:ph type="title" hasCustomPrompt="1"/>
          </p:nvPr>
        </p:nvSpPr>
        <p:spPr>
          <a:xfrm>
            <a:off x="731519" y="1600200"/>
            <a:ext cx="6766561" cy="1371600"/>
          </a:xfrm>
          <a:prstGeom prst="rect">
            <a:avLst/>
          </a:prstGeom>
        </p:spPr>
        <p:txBody>
          <a:bodyPr anchor="t">
            <a:normAutofit fontScale="100000" lnSpcReduction="0"/>
          </a:bodyPr>
          <a:lstStyle>
            <a:lvl1pPr algn="l">
              <a:defRPr sz="4800">
                <a:solidFill>
                  <a:srgbClr val="FFFFFF"/>
                </a:solidFill>
              </a:defRPr>
            </a:lvl1pPr>
          </a:lstStyle>
          <a:p>
            <a:pPr/>
            <a:r>
              <a:t>Click to add title</a:t>
            </a:r>
          </a:p>
        </p:txBody>
      </p:sp>
      <p:sp>
        <p:nvSpPr>
          <p:cNvPr id="19" name="Body Level One…"/>
          <p:cNvSpPr txBox="1"/>
          <p:nvPr>
            <p:ph type="body" sz="quarter" idx="1" hasCustomPrompt="1"/>
          </p:nvPr>
        </p:nvSpPr>
        <p:spPr>
          <a:xfrm>
            <a:off x="731519" y="3063239"/>
            <a:ext cx="6766561" cy="822961"/>
          </a:xfrm>
          <a:prstGeom prst="rect">
            <a:avLst/>
          </a:prstGeom>
        </p:spPr>
        <p:txBody>
          <a:bodyPr>
            <a:normAutofit fontScale="100000" lnSpcReduction="0"/>
          </a:bodyPr>
          <a:lstStyle>
            <a:lvl1pPr marL="0" indent="0">
              <a:spcBef>
                <a:spcPts val="500"/>
              </a:spcBef>
              <a:buSzTx/>
              <a:buFontTx/>
              <a:buNone/>
              <a:defRPr sz="2200">
                <a:solidFill>
                  <a:srgbClr val="F2F0F6"/>
                </a:solidFill>
              </a:defRPr>
            </a:lvl1pPr>
            <a:lvl2pPr marL="681717" indent="-224517">
              <a:spcBef>
                <a:spcPts val="500"/>
              </a:spcBef>
              <a:buFontTx/>
              <a:defRPr sz="2200">
                <a:solidFill>
                  <a:srgbClr val="F2F0F6"/>
                </a:solidFill>
              </a:defRPr>
            </a:lvl2pPr>
            <a:lvl3pPr marL="1123950" indent="-209550">
              <a:spcBef>
                <a:spcPts val="500"/>
              </a:spcBef>
              <a:buFontTx/>
              <a:defRPr sz="2200">
                <a:solidFill>
                  <a:srgbClr val="F2F0F6"/>
                </a:solidFill>
              </a:defRPr>
            </a:lvl3pPr>
            <a:lvl4pPr marL="1623060" indent="-251460">
              <a:spcBef>
                <a:spcPts val="500"/>
              </a:spcBef>
              <a:buFontTx/>
              <a:defRPr sz="2200">
                <a:solidFill>
                  <a:srgbClr val="F2F0F6"/>
                </a:solidFill>
              </a:defRPr>
            </a:lvl4pPr>
            <a:lvl5pPr marL="2080260" indent="-251460">
              <a:spcBef>
                <a:spcPts val="500"/>
              </a:spcBef>
              <a:buFontTx/>
              <a:defRPr sz="2200">
                <a:solidFill>
                  <a:srgbClr val="F2F0F6"/>
                </a:solidFill>
              </a:defRPr>
            </a:lvl5pPr>
          </a:lstStyle>
          <a:p>
            <a:pPr/>
            <a:r>
              <a:t>Click to add text</a:t>
            </a:r>
          </a:p>
          <a:p>
            <a:pPr lvl="1"/>
            <a:r>
              <a:t/>
            </a:r>
          </a:p>
          <a:p>
            <a:pPr lvl="2"/>
            <a:r>
              <a:t/>
            </a:r>
          </a:p>
          <a:p>
            <a:pPr lvl="3"/>
            <a:r>
              <a:t/>
            </a:r>
          </a:p>
          <a:p>
            <a:pPr lvl="4"/>
            <a:r>
              <a:t/>
            </a:r>
          </a:p>
        </p:txBody>
      </p:sp>
      <p:sp>
        <p:nvSpPr>
          <p:cNvPr id="2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p:spTree>
      <p:nvGrpSpPr>
        <p:cNvPr id="1" name=""/>
        <p:cNvGrpSpPr/>
        <p:nvPr/>
      </p:nvGrpSpPr>
      <p:grpSpPr>
        <a:xfrm>
          <a:off x="0" y="0"/>
          <a:ext cx="0" cy="0"/>
          <a:chOff x="0" y="0"/>
          <a:chExt cx="0" cy="0"/>
        </a:xfrm>
      </p:grpSpPr>
      <p:sp>
        <p:nvSpPr>
          <p:cNvPr id="27" name="Click to add title"/>
          <p:cNvSpPr txBox="1"/>
          <p:nvPr>
            <p:ph type="title" hasCustomPrompt="1"/>
          </p:nvPr>
        </p:nvSpPr>
        <p:spPr>
          <a:xfrm>
            <a:off x="548640" y="365759"/>
            <a:ext cx="11064241" cy="731521"/>
          </a:xfrm>
          <a:prstGeom prst="rect">
            <a:avLst/>
          </a:prstGeom>
        </p:spPr>
        <p:txBody>
          <a:bodyPr anchor="t">
            <a:normAutofit fontScale="100000" lnSpcReduction="0"/>
          </a:bodyPr>
          <a:lstStyle>
            <a:lvl1pPr algn="l">
              <a:defRPr sz="3200"/>
            </a:lvl1pPr>
          </a:lstStyle>
          <a:p>
            <a:pPr/>
            <a:r>
              <a:t>Click to add title</a:t>
            </a:r>
          </a:p>
        </p:txBody>
      </p:sp>
      <p:sp>
        <p:nvSpPr>
          <p:cNvPr id="28" name="Text 0"/>
          <p:cNvSpPr txBox="1"/>
          <p:nvPr/>
        </p:nvSpPr>
        <p:spPr>
          <a:xfrm>
            <a:off x="548640" y="6425105"/>
            <a:ext cx="731520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chemeClr val="accent5"/>
                </a:solidFill>
              </a:defRPr>
            </a:lvl1pPr>
          </a:lstStyle>
          <a:p>
            <a:pPr/>
            <a:r>
              <a:t>Staying in touch, simply · Mid-term · Week of 5 October 2026</a:t>
            </a:r>
          </a:p>
        </p:txBody>
      </p:sp>
      <p:sp>
        <p:nvSpPr>
          <p:cNvPr id="29" name="Slide Number"/>
          <p:cNvSpPr txBox="1"/>
          <p:nvPr>
            <p:ph type="sldNum" sz="quarter" idx="2"/>
          </p:nvPr>
        </p:nvSpPr>
        <p:spPr>
          <a:xfrm>
            <a:off x="11367130" y="6355079"/>
            <a:ext cx="245751" cy="225709"/>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LOSING_DARK">
    <p:bg>
      <p:bgPr>
        <a:solidFill>
          <a:srgbClr val="2B2440"/>
        </a:solidFill>
      </p:bgPr>
    </p:bg>
    <p:spTree>
      <p:nvGrpSpPr>
        <p:cNvPr id="1" name=""/>
        <p:cNvGrpSpPr/>
        <p:nvPr/>
      </p:nvGrpSpPr>
      <p:grpSpPr>
        <a:xfrm>
          <a:off x="0" y="0"/>
          <a:ext cx="0" cy="0"/>
          <a:chOff x="0" y="0"/>
          <a:chExt cx="0" cy="0"/>
        </a:xfrm>
      </p:grpSpPr>
      <p:sp>
        <p:nvSpPr>
          <p:cNvPr id="36" name="Click to add title"/>
          <p:cNvSpPr txBox="1"/>
          <p:nvPr>
            <p:ph type="title" hasCustomPrompt="1"/>
          </p:nvPr>
        </p:nvSpPr>
        <p:spPr>
          <a:xfrm>
            <a:off x="548640" y="365759"/>
            <a:ext cx="11064241" cy="731521"/>
          </a:xfrm>
          <a:prstGeom prst="rect">
            <a:avLst/>
          </a:prstGeom>
        </p:spPr>
        <p:txBody>
          <a:bodyPr anchor="t">
            <a:normAutofit fontScale="100000" lnSpcReduction="0"/>
          </a:bodyPr>
          <a:lstStyle>
            <a:lvl1pPr algn="l">
              <a:defRPr sz="3200">
                <a:solidFill>
                  <a:srgbClr val="FFFFFF"/>
                </a:solidFill>
              </a:defRPr>
            </a:lvl1pPr>
          </a:lstStyle>
          <a:p>
            <a:pPr/>
            <a:r>
              <a:t>Click to add title</a:t>
            </a:r>
          </a:p>
        </p:txBody>
      </p:sp>
      <p:sp>
        <p:nvSpPr>
          <p:cNvPr id="37" name="Slide Number"/>
          <p:cNvSpPr txBox="1"/>
          <p:nvPr>
            <p:ph type="sldNum" sz="quarter" idx="2"/>
          </p:nvPr>
        </p:nvSpPr>
        <p:spPr>
          <a:xfrm>
            <a:off x="11367130" y="6355079"/>
            <a:ext cx="245751" cy="225709"/>
          </a:xfrm>
          <a:prstGeom prst="rect">
            <a:avLst/>
          </a:prstGeom>
        </p:spPr>
        <p:txBody>
          <a:bodyPr/>
          <a:lstStyle>
            <a:lvl1pPr>
              <a:defRPr>
                <a:solidFill>
                  <a:srgbClr val="F2F0F6"/>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09600" y="92074"/>
            <a:ext cx="10972800" cy="1508126"/>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5892800" y="6356350"/>
            <a:ext cx="2844800" cy="368300"/>
          </a:xfrm>
          <a:prstGeom prst="rect">
            <a:avLst/>
          </a:prstGeom>
          <a:ln w="12700">
            <a:miter lim="400000"/>
          </a:ln>
        </p:spPr>
        <p:txBody>
          <a:bodyPr wrap="none" lIns="45719" rIns="45719">
            <a:spAutoFit/>
          </a:bodyPr>
          <a:lstStyle>
            <a:lvl1pPr algn="r">
              <a:defRPr sz="1100">
                <a:solidFill>
                  <a:schemeClr val="accent5"/>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F1A24"/>
          </a:solidFill>
          <a:uFillTx/>
          <a:latin typeface="Cambria"/>
          <a:ea typeface="Cambria"/>
          <a:cs typeface="Cambria"/>
          <a:sym typeface="Cambria"/>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F1A24"/>
          </a:solidFill>
          <a:uFillTx/>
          <a:latin typeface="Cambria"/>
          <a:ea typeface="Cambria"/>
          <a:cs typeface="Cambria"/>
          <a:sym typeface="Cambria"/>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F1A24"/>
          </a:solidFill>
          <a:uFillTx/>
          <a:latin typeface="Cambria"/>
          <a:ea typeface="Cambria"/>
          <a:cs typeface="Cambria"/>
          <a:sym typeface="Cambria"/>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F1A24"/>
          </a:solidFill>
          <a:uFillTx/>
          <a:latin typeface="Cambria"/>
          <a:ea typeface="Cambria"/>
          <a:cs typeface="Cambria"/>
          <a:sym typeface="Cambria"/>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F1A24"/>
          </a:solidFill>
          <a:uFillTx/>
          <a:latin typeface="Cambria"/>
          <a:ea typeface="Cambria"/>
          <a:cs typeface="Cambria"/>
          <a:sym typeface="Cambria"/>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F1A24"/>
          </a:solidFill>
          <a:uFillTx/>
          <a:latin typeface="Cambria"/>
          <a:ea typeface="Cambria"/>
          <a:cs typeface="Cambria"/>
          <a:sym typeface="Cambria"/>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F1A24"/>
          </a:solidFill>
          <a:uFillTx/>
          <a:latin typeface="Cambria"/>
          <a:ea typeface="Cambria"/>
          <a:cs typeface="Cambria"/>
          <a:sym typeface="Cambria"/>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F1A24"/>
          </a:solidFill>
          <a:uFillTx/>
          <a:latin typeface="Cambria"/>
          <a:ea typeface="Cambria"/>
          <a:cs typeface="Cambria"/>
          <a:sym typeface="Cambria"/>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F1A24"/>
          </a:solidFill>
          <a:uFillTx/>
          <a:latin typeface="Cambria"/>
          <a:ea typeface="Cambria"/>
          <a:cs typeface="Cambria"/>
          <a:sym typeface="Cambria"/>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F1A24"/>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F1A24"/>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F1A24"/>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F1A24"/>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F1A24"/>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F1A24"/>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F1A24"/>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F1A24"/>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F1A24"/>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1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1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1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1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1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1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1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1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1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 name="Text 0"/>
          <p:cNvSpPr txBox="1"/>
          <p:nvPr>
            <p:ph type="title"/>
          </p:nvPr>
        </p:nvSpPr>
        <p:spPr>
          <a:xfrm>
            <a:off x="731520" y="1600200"/>
            <a:ext cx="6766560" cy="1371600"/>
          </a:xfrm>
          <a:prstGeom prst="rect">
            <a:avLst/>
          </a:prstGeom>
        </p:spPr>
        <p:txBody>
          <a:bodyPr lIns="0" tIns="0" rIns="0" bIns="0" anchor="b"/>
          <a:lstStyle/>
          <a:p>
            <a:pPr/>
            <a:r>
              <a:t>Staying in touch, simply</a:t>
            </a:r>
          </a:p>
        </p:txBody>
      </p:sp>
      <p:sp>
        <p:nvSpPr>
          <p:cNvPr id="47" name="Text 0"/>
          <p:cNvSpPr txBox="1"/>
          <p:nvPr>
            <p:ph type="body" sz="quarter" idx="1"/>
          </p:nvPr>
        </p:nvSpPr>
        <p:spPr>
          <a:xfrm>
            <a:off x="731520" y="3063239"/>
            <a:ext cx="6766560" cy="822961"/>
          </a:xfrm>
          <a:prstGeom prst="rect">
            <a:avLst/>
          </a:prstGeom>
        </p:spPr>
        <p:txBody>
          <a:bodyPr lIns="0" tIns="0" rIns="0" bIns="0"/>
          <a:lstStyle/>
          <a:p>
            <a:pPr/>
            <a:r>
              <a:t>Co-designing a way for an older adult to use his smartphone</a:t>
            </a:r>
          </a:p>
        </p:txBody>
      </p:sp>
      <p:sp>
        <p:nvSpPr>
          <p:cNvPr id="48" name="Meta"/>
          <p:cNvSpPr txBox="1"/>
          <p:nvPr/>
        </p:nvSpPr>
        <p:spPr>
          <a:xfrm>
            <a:off x="731520" y="4250121"/>
            <a:ext cx="6766560" cy="186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chemeClr val="accent6"/>
                </a:solidFill>
              </a:defRPr>
            </a:lvl1pPr>
          </a:lstStyle>
          <a:p>
            <a:pPr/>
            <a:r>
              <a:t>Mid-term presentation · Co-Designing Inclusive Technologies · Week of 5 October 2026</a:t>
            </a:r>
          </a:p>
        </p:txBody>
      </p:sp>
      <p:sp>
        <p:nvSpPr>
          <p:cNvPr id="49" name="Team"/>
          <p:cNvSpPr txBox="1"/>
          <p:nvPr/>
        </p:nvSpPr>
        <p:spPr>
          <a:xfrm>
            <a:off x="731520" y="4696023"/>
            <a:ext cx="6766560"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FFFFFF"/>
                </a:solidFill>
              </a:defRPr>
            </a:lvl1pPr>
          </a:lstStyle>
          <a:p>
            <a:pPr/>
            <a:r>
              <a:t>Henrique Rodrigues · João Rocha</a:t>
            </a:r>
          </a:p>
        </p:txBody>
      </p:sp>
      <p:sp>
        <p:nvSpPr>
          <p:cNvPr id="50" name="Big button"/>
          <p:cNvSpPr/>
          <p:nvPr/>
        </p:nvSpPr>
        <p:spPr>
          <a:xfrm>
            <a:off x="8001000" y="1600200"/>
            <a:ext cx="3657600" cy="3657600"/>
          </a:xfrm>
          <a:prstGeom prst="ellipse">
            <a:avLst/>
          </a:prstGeom>
          <a:solidFill>
            <a:schemeClr val="accent1"/>
          </a:solidFill>
          <a:ln w="12700">
            <a:solidFill>
              <a:schemeClr val="accent1"/>
            </a:solidFill>
          </a:ln>
        </p:spPr>
        <p:txBody>
          <a:bodyPr lIns="45719" rIns="45719"/>
          <a:lstStyle/>
          <a:p>
            <a:pPr/>
          </a:p>
        </p:txBody>
      </p:sp>
      <p:sp>
        <p:nvSpPr>
          <p:cNvPr id="51" name="Button ring"/>
          <p:cNvSpPr/>
          <p:nvPr/>
        </p:nvSpPr>
        <p:spPr>
          <a:xfrm>
            <a:off x="8321040" y="1920239"/>
            <a:ext cx="3017521" cy="3017522"/>
          </a:xfrm>
          <a:prstGeom prst="ellipse">
            <a:avLst/>
          </a:prstGeom>
          <a:ln w="31750">
            <a:solidFill>
              <a:srgbClr val="FFFFFF">
                <a:alpha val="45000"/>
              </a:srgbClr>
            </a:solidFill>
          </a:ln>
        </p:spPr>
        <p:txBody>
          <a:bodyPr lIns="45719" rIns="45719"/>
          <a:lstStyle/>
          <a:p>
            <a:pPr/>
          </a:p>
        </p:txBody>
      </p:sp>
      <p:pic>
        <p:nvPicPr>
          <p:cNvPr id="52" name="Phone icon" descr="Phone icon"/>
          <p:cNvPicPr>
            <a:picLocks noChangeAspect="1"/>
          </p:cNvPicPr>
          <p:nvPr/>
        </p:nvPicPr>
        <p:blipFill>
          <a:blip r:embed="rId3">
            <a:extLst/>
          </a:blip>
          <a:stretch>
            <a:fillRect/>
          </a:stretch>
        </p:blipFill>
        <p:spPr>
          <a:xfrm>
            <a:off x="9144000" y="2743200"/>
            <a:ext cx="1371600" cy="1371600"/>
          </a:xfrm>
          <a:prstGeom prst="rect">
            <a:avLst/>
          </a:prstGeom>
          <a:ln w="12700">
            <a:miter lim="400000"/>
          </a:ln>
        </p:spPr>
      </p:pic>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6" name="Text 0"/>
          <p:cNvSpPr txBox="1"/>
          <p:nvPr>
            <p:ph type="title"/>
          </p:nvPr>
        </p:nvSpPr>
        <p:spPr>
          <a:xfrm>
            <a:off x="548639" y="365759"/>
            <a:ext cx="11064242" cy="731521"/>
          </a:xfrm>
          <a:prstGeom prst="rect">
            <a:avLst/>
          </a:prstGeom>
        </p:spPr>
        <p:txBody>
          <a:bodyPr lIns="0" tIns="0" rIns="0" bIns="0" anchor="ctr"/>
          <a:lstStyle/>
          <a:p>
            <a:pPr/>
            <a:r>
              <a:t>Where we are: two sessions done, one to go</a:t>
            </a:r>
          </a:p>
        </p:txBody>
      </p:sp>
      <p:sp>
        <p:nvSpPr>
          <p:cNvPr id="57" name="Diamond 1"/>
          <p:cNvSpPr/>
          <p:nvPr/>
        </p:nvSpPr>
        <p:spPr>
          <a:xfrm>
            <a:off x="1508760" y="1508760"/>
            <a:ext cx="4572001" cy="2377440"/>
          </a:xfrm>
          <a:prstGeom prst="diamond">
            <a:avLst/>
          </a:prstGeom>
          <a:solidFill>
            <a:srgbClr val="F2F0F6"/>
          </a:solidFill>
          <a:ln w="25400">
            <a:solidFill>
              <a:schemeClr val="accent1"/>
            </a:solidFill>
          </a:ln>
        </p:spPr>
        <p:txBody>
          <a:bodyPr lIns="45719" rIns="45719"/>
          <a:lstStyle/>
          <a:p>
            <a:pPr/>
          </a:p>
        </p:txBody>
      </p:sp>
      <p:sp>
        <p:nvSpPr>
          <p:cNvPr id="58" name="Diamond 2"/>
          <p:cNvSpPr/>
          <p:nvPr/>
        </p:nvSpPr>
        <p:spPr>
          <a:xfrm>
            <a:off x="6080759" y="1508760"/>
            <a:ext cx="4572001" cy="2377440"/>
          </a:xfrm>
          <a:prstGeom prst="diamond">
            <a:avLst/>
          </a:prstGeom>
          <a:solidFill>
            <a:srgbClr val="F2F0F6"/>
          </a:solidFill>
          <a:ln w="25400">
            <a:solidFill>
              <a:schemeClr val="accent1"/>
            </a:solidFill>
          </a:ln>
        </p:spPr>
        <p:txBody>
          <a:bodyPr lIns="45719" rIns="45719"/>
          <a:lstStyle/>
          <a:p>
            <a:pPr/>
          </a:p>
        </p:txBody>
      </p:sp>
      <p:sp>
        <p:nvSpPr>
          <p:cNvPr id="59" name="Divider 1"/>
          <p:cNvSpPr/>
          <p:nvPr/>
        </p:nvSpPr>
        <p:spPr>
          <a:xfrm flipH="1">
            <a:off x="3794759" y="1508760"/>
            <a:ext cx="1" cy="2377441"/>
          </a:xfrm>
          <a:prstGeom prst="line">
            <a:avLst/>
          </a:prstGeom>
          <a:ln w="12700">
            <a:solidFill>
              <a:schemeClr val="accent5"/>
            </a:solidFill>
            <a:prstDash val="dash"/>
          </a:ln>
        </p:spPr>
        <p:txBody>
          <a:bodyPr lIns="45719" rIns="45719"/>
          <a:lstStyle/>
          <a:p>
            <a:pPr/>
          </a:p>
        </p:txBody>
      </p:sp>
      <p:sp>
        <p:nvSpPr>
          <p:cNvPr id="60" name="Divider 2"/>
          <p:cNvSpPr/>
          <p:nvPr/>
        </p:nvSpPr>
        <p:spPr>
          <a:xfrm>
            <a:off x="8366760" y="1508760"/>
            <a:ext cx="1" cy="2377441"/>
          </a:xfrm>
          <a:prstGeom prst="line">
            <a:avLst/>
          </a:prstGeom>
          <a:ln w="12700">
            <a:solidFill>
              <a:schemeClr val="accent5"/>
            </a:solidFill>
            <a:prstDash val="dash"/>
          </a:ln>
        </p:spPr>
        <p:txBody>
          <a:bodyPr lIns="45719" rIns="45719"/>
          <a:lstStyle/>
          <a:p>
            <a:pPr/>
          </a:p>
        </p:txBody>
      </p:sp>
      <p:sp>
        <p:nvSpPr>
          <p:cNvPr id="61" name="Discover label"/>
          <p:cNvSpPr txBox="1"/>
          <p:nvPr/>
        </p:nvSpPr>
        <p:spPr>
          <a:xfrm>
            <a:off x="2057400" y="2576656"/>
            <a:ext cx="1645921"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a:lvl1pPr>
          </a:lstStyle>
          <a:p>
            <a:pPr/>
            <a:r>
              <a:t>Discover</a:t>
            </a:r>
          </a:p>
        </p:txBody>
      </p:sp>
      <p:sp>
        <p:nvSpPr>
          <p:cNvPr id="62" name="Define label"/>
          <p:cNvSpPr txBox="1"/>
          <p:nvPr/>
        </p:nvSpPr>
        <p:spPr>
          <a:xfrm>
            <a:off x="3886200" y="2576656"/>
            <a:ext cx="1645921"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a:lvl1pPr>
          </a:lstStyle>
          <a:p>
            <a:pPr/>
            <a:r>
              <a:t>Define</a:t>
            </a:r>
          </a:p>
        </p:txBody>
      </p:sp>
      <p:sp>
        <p:nvSpPr>
          <p:cNvPr id="63" name="Develop label"/>
          <p:cNvSpPr txBox="1"/>
          <p:nvPr/>
        </p:nvSpPr>
        <p:spPr>
          <a:xfrm>
            <a:off x="6629400" y="2576656"/>
            <a:ext cx="1645921"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a:lvl1pPr>
          </a:lstStyle>
          <a:p>
            <a:pPr/>
            <a:r>
              <a:t>Develop</a:t>
            </a:r>
          </a:p>
        </p:txBody>
      </p:sp>
      <p:sp>
        <p:nvSpPr>
          <p:cNvPr id="64" name="Deliver label"/>
          <p:cNvSpPr txBox="1"/>
          <p:nvPr/>
        </p:nvSpPr>
        <p:spPr>
          <a:xfrm>
            <a:off x="8458200" y="2576656"/>
            <a:ext cx="1645921"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a:lvl1pPr>
          </a:lstStyle>
          <a:p>
            <a:pPr/>
            <a:r>
              <a:t>Deliver</a:t>
            </a:r>
          </a:p>
        </p:txBody>
      </p:sp>
      <p:sp>
        <p:nvSpPr>
          <p:cNvPr id="65" name="Session 1 · done span"/>
          <p:cNvSpPr/>
          <p:nvPr/>
        </p:nvSpPr>
        <p:spPr>
          <a:xfrm>
            <a:off x="1783079" y="4343400"/>
            <a:ext cx="4023360" cy="0"/>
          </a:xfrm>
          <a:prstGeom prst="line">
            <a:avLst/>
          </a:prstGeom>
          <a:ln w="25400">
            <a:solidFill>
              <a:schemeClr val="accent6"/>
            </a:solidFill>
          </a:ln>
        </p:spPr>
        <p:txBody>
          <a:bodyPr lIns="45719" rIns="45719"/>
          <a:lstStyle/>
          <a:p>
            <a:pPr/>
          </a:p>
        </p:txBody>
      </p:sp>
      <p:sp>
        <p:nvSpPr>
          <p:cNvPr id="66" name="Session 1 · done circle"/>
          <p:cNvSpPr/>
          <p:nvPr/>
        </p:nvSpPr>
        <p:spPr>
          <a:xfrm>
            <a:off x="3566159" y="4114800"/>
            <a:ext cx="457201" cy="457200"/>
          </a:xfrm>
          <a:prstGeom prst="ellipse">
            <a:avLst/>
          </a:prstGeom>
          <a:solidFill>
            <a:schemeClr val="accent1"/>
          </a:solidFill>
          <a:ln w="12700">
            <a:solidFill>
              <a:schemeClr val="accent1"/>
            </a:solidFill>
          </a:ln>
        </p:spPr>
        <p:txBody>
          <a:bodyPr lIns="45719" rIns="45719"/>
          <a:lstStyle/>
          <a:p>
            <a:pPr/>
          </a:p>
        </p:txBody>
      </p:sp>
      <p:pic>
        <p:nvPicPr>
          <p:cNvPr id="67" name="Session 1 · done icon" descr="Session 1 · done icon"/>
          <p:cNvPicPr>
            <a:picLocks noChangeAspect="1"/>
          </p:cNvPicPr>
          <p:nvPr/>
        </p:nvPicPr>
        <p:blipFill>
          <a:blip r:embed="rId3">
            <a:extLst/>
          </a:blip>
          <a:stretch>
            <a:fillRect/>
          </a:stretch>
        </p:blipFill>
        <p:spPr>
          <a:xfrm>
            <a:off x="3685032" y="4233671"/>
            <a:ext cx="219457" cy="219457"/>
          </a:xfrm>
          <a:prstGeom prst="rect">
            <a:avLst/>
          </a:prstGeom>
          <a:ln w="12700">
            <a:miter lim="400000"/>
          </a:ln>
        </p:spPr>
      </p:pic>
      <p:sp>
        <p:nvSpPr>
          <p:cNvPr id="68" name="Session 1 · done name"/>
          <p:cNvSpPr txBox="1"/>
          <p:nvPr/>
        </p:nvSpPr>
        <p:spPr>
          <a:xfrm>
            <a:off x="2606039" y="4782514"/>
            <a:ext cx="2377441" cy="21905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700"/>
            </a:lvl1pPr>
          </a:lstStyle>
          <a:p>
            <a:pPr/>
            <a:r>
              <a:t>Session 1 · done</a:t>
            </a:r>
          </a:p>
        </p:txBody>
      </p:sp>
      <p:sp>
        <p:nvSpPr>
          <p:cNvPr id="69" name="Session 1 · done desc"/>
          <p:cNvSpPr txBox="1"/>
          <p:nvPr/>
        </p:nvSpPr>
        <p:spPr>
          <a:xfrm>
            <a:off x="2606039" y="5163120"/>
            <a:ext cx="237744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400">
                <a:solidFill>
                  <a:schemeClr val="accent5"/>
                </a:solidFill>
              </a:defRPr>
            </a:lvl1pPr>
          </a:lstStyle>
          <a:p>
            <a:pPr/>
            <a:r>
              <a:t>Problem framed and signed</a:t>
            </a:r>
          </a:p>
        </p:txBody>
      </p:sp>
      <p:sp>
        <p:nvSpPr>
          <p:cNvPr id="70" name="Session 2 · done span"/>
          <p:cNvSpPr/>
          <p:nvPr/>
        </p:nvSpPr>
        <p:spPr>
          <a:xfrm>
            <a:off x="6217920" y="4343400"/>
            <a:ext cx="2057401" cy="0"/>
          </a:xfrm>
          <a:prstGeom prst="line">
            <a:avLst/>
          </a:prstGeom>
          <a:ln w="25400">
            <a:solidFill>
              <a:schemeClr val="accent6"/>
            </a:solidFill>
          </a:ln>
        </p:spPr>
        <p:txBody>
          <a:bodyPr lIns="45719" rIns="45719"/>
          <a:lstStyle/>
          <a:p>
            <a:pPr/>
          </a:p>
        </p:txBody>
      </p:sp>
      <p:sp>
        <p:nvSpPr>
          <p:cNvPr id="71" name="Session 2 · done circle"/>
          <p:cNvSpPr/>
          <p:nvPr/>
        </p:nvSpPr>
        <p:spPr>
          <a:xfrm>
            <a:off x="6995159" y="4114800"/>
            <a:ext cx="457201" cy="457200"/>
          </a:xfrm>
          <a:prstGeom prst="ellipse">
            <a:avLst/>
          </a:prstGeom>
          <a:solidFill>
            <a:schemeClr val="accent1"/>
          </a:solidFill>
          <a:ln w="12700">
            <a:solidFill>
              <a:schemeClr val="accent1"/>
            </a:solidFill>
          </a:ln>
        </p:spPr>
        <p:txBody>
          <a:bodyPr lIns="45719" rIns="45719"/>
          <a:lstStyle/>
          <a:p>
            <a:pPr/>
          </a:p>
        </p:txBody>
      </p:sp>
      <p:pic>
        <p:nvPicPr>
          <p:cNvPr id="72" name="Session 2 · done icon" descr="Session 2 · done icon"/>
          <p:cNvPicPr>
            <a:picLocks noChangeAspect="1"/>
          </p:cNvPicPr>
          <p:nvPr/>
        </p:nvPicPr>
        <p:blipFill>
          <a:blip r:embed="rId3">
            <a:extLst/>
          </a:blip>
          <a:stretch>
            <a:fillRect/>
          </a:stretch>
        </p:blipFill>
        <p:spPr>
          <a:xfrm>
            <a:off x="7114031" y="4233671"/>
            <a:ext cx="219457" cy="219457"/>
          </a:xfrm>
          <a:prstGeom prst="rect">
            <a:avLst/>
          </a:prstGeom>
          <a:ln w="12700">
            <a:miter lim="400000"/>
          </a:ln>
        </p:spPr>
      </p:pic>
      <p:sp>
        <p:nvSpPr>
          <p:cNvPr id="73" name="Session 2 · done name"/>
          <p:cNvSpPr txBox="1"/>
          <p:nvPr/>
        </p:nvSpPr>
        <p:spPr>
          <a:xfrm>
            <a:off x="6035040" y="4782514"/>
            <a:ext cx="2377441" cy="21905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700"/>
            </a:lvl1pPr>
          </a:lstStyle>
          <a:p>
            <a:pPr/>
            <a:r>
              <a:t>Session 2 · done</a:t>
            </a:r>
          </a:p>
        </p:txBody>
      </p:sp>
      <p:sp>
        <p:nvSpPr>
          <p:cNvPr id="74" name="Session 2 · done desc"/>
          <p:cNvSpPr txBox="1"/>
          <p:nvPr/>
        </p:nvSpPr>
        <p:spPr>
          <a:xfrm>
            <a:off x="6035040" y="5163120"/>
            <a:ext cx="237744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400">
                <a:solidFill>
                  <a:schemeClr val="accent5"/>
                </a:solidFill>
              </a:defRPr>
            </a:lvl1pPr>
          </a:lstStyle>
          <a:p>
            <a:pPr/>
            <a:r>
              <a:t>Concept chosen by Manuel</a:t>
            </a:r>
          </a:p>
        </p:txBody>
      </p:sp>
      <p:sp>
        <p:nvSpPr>
          <p:cNvPr id="75" name="Session 3 · by 16 Oct span"/>
          <p:cNvSpPr/>
          <p:nvPr/>
        </p:nvSpPr>
        <p:spPr>
          <a:xfrm>
            <a:off x="8458200" y="4343400"/>
            <a:ext cx="2057400" cy="0"/>
          </a:xfrm>
          <a:prstGeom prst="line">
            <a:avLst/>
          </a:prstGeom>
          <a:ln w="25400">
            <a:solidFill>
              <a:schemeClr val="accent6"/>
            </a:solidFill>
          </a:ln>
        </p:spPr>
        <p:txBody>
          <a:bodyPr lIns="45719" rIns="45719"/>
          <a:lstStyle/>
          <a:p>
            <a:pPr/>
          </a:p>
        </p:txBody>
      </p:sp>
      <p:sp>
        <p:nvSpPr>
          <p:cNvPr id="76" name="Session 3 · by 16 Oct circle"/>
          <p:cNvSpPr/>
          <p:nvPr/>
        </p:nvSpPr>
        <p:spPr>
          <a:xfrm>
            <a:off x="9281159" y="4114800"/>
            <a:ext cx="457201" cy="457200"/>
          </a:xfrm>
          <a:prstGeom prst="ellipse">
            <a:avLst/>
          </a:prstGeom>
          <a:solidFill>
            <a:srgbClr val="FFFFFF"/>
          </a:solidFill>
          <a:ln w="25400">
            <a:solidFill>
              <a:schemeClr val="accent1"/>
            </a:solidFill>
          </a:ln>
        </p:spPr>
        <p:txBody>
          <a:bodyPr lIns="45719" rIns="45719"/>
          <a:lstStyle/>
          <a:p>
            <a:pPr/>
          </a:p>
        </p:txBody>
      </p:sp>
      <p:sp>
        <p:nvSpPr>
          <p:cNvPr id="77" name="Session 3 · by 16 Oct name"/>
          <p:cNvSpPr txBox="1"/>
          <p:nvPr/>
        </p:nvSpPr>
        <p:spPr>
          <a:xfrm>
            <a:off x="8321040" y="4782514"/>
            <a:ext cx="2377441" cy="21905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700"/>
            </a:lvl1pPr>
          </a:lstStyle>
          <a:p>
            <a:pPr/>
            <a:r>
              <a:t>Session 3 · by 16 Oct</a:t>
            </a:r>
          </a:p>
        </p:txBody>
      </p:sp>
      <p:sp>
        <p:nvSpPr>
          <p:cNvPr id="78" name="Session 3 · by 16 Oct desc"/>
          <p:cNvSpPr txBox="1"/>
          <p:nvPr/>
        </p:nvSpPr>
        <p:spPr>
          <a:xfrm>
            <a:off x="8321040" y="5163120"/>
            <a:ext cx="237744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400">
                <a:solidFill>
                  <a:schemeClr val="accent5"/>
                </a:solidFill>
              </a:defRPr>
            </a:lvl1pPr>
          </a:lstStyle>
          <a:p>
            <a:pPr/>
            <a:r>
              <a:t>Test the prototype at home</a:t>
            </a:r>
          </a:p>
        </p:txBody>
      </p:sp>
      <p:sp>
        <p:nvSpPr>
          <p:cNvPr id="79" name="Slide Number Placeholder 0"/>
          <p:cNvSpPr txBox="1"/>
          <p:nvPr>
            <p:ph type="sldNum" sz="quarter" idx="4294967295"/>
          </p:nvPr>
        </p:nvSpPr>
        <p:spPr>
          <a:xfrm>
            <a:off x="11437935" y="6355079"/>
            <a:ext cx="174946" cy="22570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3" name="Text 0"/>
          <p:cNvSpPr txBox="1"/>
          <p:nvPr>
            <p:ph type="title"/>
          </p:nvPr>
        </p:nvSpPr>
        <p:spPr>
          <a:xfrm>
            <a:off x="548639" y="365759"/>
            <a:ext cx="11064242" cy="731521"/>
          </a:xfrm>
          <a:prstGeom prst="rect">
            <a:avLst/>
          </a:prstGeom>
        </p:spPr>
        <p:txBody>
          <a:bodyPr lIns="0" tIns="0" rIns="0" bIns="0" anchor="ctr"/>
          <a:lstStyle/>
          <a:p>
            <a:pPr/>
            <a:r>
              <a:t>Manuel has a smartphone, but cannot work it</a:t>
            </a:r>
          </a:p>
        </p:txBody>
      </p:sp>
      <p:sp>
        <p:nvSpPr>
          <p:cNvPr id="84" name="Name"/>
          <p:cNvSpPr txBox="1"/>
          <p:nvPr/>
        </p:nvSpPr>
        <p:spPr>
          <a:xfrm>
            <a:off x="548639" y="1390649"/>
            <a:ext cx="5120642"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800">
                <a:latin typeface="Cambria"/>
                <a:ea typeface="Cambria"/>
                <a:cs typeface="Cambria"/>
                <a:sym typeface="Cambria"/>
              </a:defRPr>
            </a:lvl1pPr>
          </a:lstStyle>
          <a:p>
            <a:pPr/>
            <a:r>
              <a:t>Manuel, 80</a:t>
            </a:r>
          </a:p>
        </p:txBody>
      </p:sp>
      <p:sp>
        <p:nvSpPr>
          <p:cNvPr id="85" name="Home circle"/>
          <p:cNvSpPr/>
          <p:nvPr/>
        </p:nvSpPr>
        <p:spPr>
          <a:xfrm>
            <a:off x="548640" y="2194560"/>
            <a:ext cx="457201" cy="457201"/>
          </a:xfrm>
          <a:prstGeom prst="ellipse">
            <a:avLst/>
          </a:prstGeom>
          <a:solidFill>
            <a:schemeClr val="accent1"/>
          </a:solidFill>
          <a:ln w="12700">
            <a:solidFill>
              <a:schemeClr val="accent1"/>
            </a:solidFill>
          </a:ln>
        </p:spPr>
        <p:txBody>
          <a:bodyPr lIns="45719" rIns="45719"/>
          <a:lstStyle/>
          <a:p>
            <a:pPr/>
          </a:p>
        </p:txBody>
      </p:sp>
      <p:pic>
        <p:nvPicPr>
          <p:cNvPr id="86" name="Home icon" descr="Home icon"/>
          <p:cNvPicPr>
            <a:picLocks noChangeAspect="1"/>
          </p:cNvPicPr>
          <p:nvPr/>
        </p:nvPicPr>
        <p:blipFill>
          <a:blip r:embed="rId3">
            <a:extLst/>
          </a:blip>
          <a:stretch>
            <a:fillRect/>
          </a:stretch>
        </p:blipFill>
        <p:spPr>
          <a:xfrm>
            <a:off x="667512" y="2313432"/>
            <a:ext cx="219457" cy="219457"/>
          </a:xfrm>
          <a:prstGeom prst="rect">
            <a:avLst/>
          </a:prstGeom>
          <a:ln w="12700">
            <a:miter lim="400000"/>
          </a:ln>
        </p:spPr>
      </p:pic>
      <p:sp>
        <p:nvSpPr>
          <p:cNvPr id="87" name="Home fact"/>
          <p:cNvSpPr txBox="1"/>
          <p:nvPr/>
        </p:nvSpPr>
        <p:spPr>
          <a:xfrm>
            <a:off x="1188720" y="2327727"/>
            <a:ext cx="4480560"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lvl1pPr>
          </a:lstStyle>
          <a:p>
            <a:pPr/>
            <a:r>
              <a:t>Lives alone in Lisbon; plays bisca at the café every day</a:t>
            </a:r>
          </a:p>
        </p:txBody>
      </p:sp>
      <p:sp>
        <p:nvSpPr>
          <p:cNvPr id="88" name="Phone circle"/>
          <p:cNvSpPr/>
          <p:nvPr/>
        </p:nvSpPr>
        <p:spPr>
          <a:xfrm>
            <a:off x="548640" y="2971800"/>
            <a:ext cx="457201" cy="457200"/>
          </a:xfrm>
          <a:prstGeom prst="ellipse">
            <a:avLst/>
          </a:prstGeom>
          <a:solidFill>
            <a:schemeClr val="accent1"/>
          </a:solidFill>
          <a:ln w="12700">
            <a:solidFill>
              <a:schemeClr val="accent1"/>
            </a:solidFill>
          </a:ln>
        </p:spPr>
        <p:txBody>
          <a:bodyPr lIns="45719" rIns="45719"/>
          <a:lstStyle/>
          <a:p>
            <a:pPr/>
          </a:p>
        </p:txBody>
      </p:sp>
      <p:pic>
        <p:nvPicPr>
          <p:cNvPr id="89" name="Phone icon" descr="Phone icon"/>
          <p:cNvPicPr>
            <a:picLocks noChangeAspect="1"/>
          </p:cNvPicPr>
          <p:nvPr/>
        </p:nvPicPr>
        <p:blipFill>
          <a:blip r:embed="rId4">
            <a:extLst/>
          </a:blip>
          <a:stretch>
            <a:fillRect/>
          </a:stretch>
        </p:blipFill>
        <p:spPr>
          <a:xfrm>
            <a:off x="667512" y="3090672"/>
            <a:ext cx="219457" cy="219457"/>
          </a:xfrm>
          <a:prstGeom prst="rect">
            <a:avLst/>
          </a:prstGeom>
          <a:ln w="12700">
            <a:miter lim="400000"/>
          </a:ln>
        </p:spPr>
      </p:pic>
      <p:sp>
        <p:nvSpPr>
          <p:cNvPr id="90" name="Phone fact"/>
          <p:cNvSpPr txBox="1"/>
          <p:nvPr/>
        </p:nvSpPr>
        <p:spPr>
          <a:xfrm>
            <a:off x="1188720" y="2977967"/>
            <a:ext cx="4480560" cy="463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lvl1pPr>
          </a:lstStyle>
          <a:p>
            <a:pPr/>
            <a:r>
              <a:t>His daughter bought him a smartphone in July; he does not know how to work it, so it sits in a drawer</a:t>
            </a:r>
          </a:p>
        </p:txBody>
      </p:sp>
      <p:sp>
        <p:nvSpPr>
          <p:cNvPr id="91" name="People circle"/>
          <p:cNvSpPr/>
          <p:nvPr/>
        </p:nvSpPr>
        <p:spPr>
          <a:xfrm>
            <a:off x="548640" y="3749040"/>
            <a:ext cx="457201" cy="457201"/>
          </a:xfrm>
          <a:prstGeom prst="ellipse">
            <a:avLst/>
          </a:prstGeom>
          <a:solidFill>
            <a:schemeClr val="accent1"/>
          </a:solidFill>
          <a:ln w="12700">
            <a:solidFill>
              <a:schemeClr val="accent1"/>
            </a:solidFill>
          </a:ln>
        </p:spPr>
        <p:txBody>
          <a:bodyPr lIns="45719" rIns="45719"/>
          <a:lstStyle/>
          <a:p>
            <a:pPr/>
          </a:p>
        </p:txBody>
      </p:sp>
      <p:pic>
        <p:nvPicPr>
          <p:cNvPr id="92" name="People icon" descr="People icon"/>
          <p:cNvPicPr>
            <a:picLocks noChangeAspect="1"/>
          </p:cNvPicPr>
          <p:nvPr/>
        </p:nvPicPr>
        <p:blipFill>
          <a:blip r:embed="rId5">
            <a:extLst/>
          </a:blip>
          <a:stretch>
            <a:fillRect/>
          </a:stretch>
        </p:blipFill>
        <p:spPr>
          <a:xfrm>
            <a:off x="667512" y="3867911"/>
            <a:ext cx="219457" cy="219457"/>
          </a:xfrm>
          <a:prstGeom prst="rect">
            <a:avLst/>
          </a:prstGeom>
          <a:ln w="12700">
            <a:miter lim="400000"/>
          </a:ln>
        </p:spPr>
      </p:pic>
      <p:sp>
        <p:nvSpPr>
          <p:cNvPr id="93" name="People fact"/>
          <p:cNvSpPr txBox="1"/>
          <p:nvPr/>
        </p:nvSpPr>
        <p:spPr>
          <a:xfrm>
            <a:off x="1188720" y="3755207"/>
            <a:ext cx="4480560" cy="463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lvl1pPr>
          </a:lstStyle>
          <a:p>
            <a:pPr/>
            <a:r>
              <a:t>His family shares everything in a WhatsApp group: news, and photos of his newborn great-grandson</a:t>
            </a:r>
          </a:p>
        </p:txBody>
      </p:sp>
      <p:sp>
        <p:nvSpPr>
          <p:cNvPr id="94" name="Problem statement card"/>
          <p:cNvSpPr/>
          <p:nvPr/>
        </p:nvSpPr>
        <p:spPr>
          <a:xfrm>
            <a:off x="6126479" y="1371600"/>
            <a:ext cx="5486401" cy="3246121"/>
          </a:xfrm>
          <a:prstGeom prst="roundRect">
            <a:avLst>
              <a:gd name="adj" fmla="val 3380"/>
            </a:avLst>
          </a:prstGeom>
          <a:solidFill>
            <a:srgbClr val="F2F0F6"/>
          </a:solidFill>
          <a:ln w="12700">
            <a:solidFill>
              <a:srgbClr val="F2F0F6"/>
            </a:solidFill>
          </a:ln>
        </p:spPr>
        <p:txBody>
          <a:bodyPr lIns="45719" rIns="45719"/>
          <a:lstStyle/>
          <a:p>
            <a:pPr/>
          </a:p>
        </p:txBody>
      </p:sp>
      <p:sp>
        <p:nvSpPr>
          <p:cNvPr id="95" name="Problem label"/>
          <p:cNvSpPr txBox="1"/>
          <p:nvPr/>
        </p:nvSpPr>
        <p:spPr>
          <a:xfrm>
            <a:off x="6400800" y="1631495"/>
            <a:ext cx="493776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200">
                <a:solidFill>
                  <a:schemeClr val="accent2"/>
                </a:solidFill>
              </a:defRPr>
            </a:lvl1pPr>
          </a:lstStyle>
          <a:p>
            <a:pPr/>
            <a:r>
              <a:t>THE PROBLEM STATEMENT HE SIGNED</a:t>
            </a:r>
          </a:p>
        </p:txBody>
      </p:sp>
      <p:sp>
        <p:nvSpPr>
          <p:cNvPr id="96" name="Problem statement"/>
          <p:cNvSpPr txBox="1"/>
          <p:nvPr/>
        </p:nvSpPr>
        <p:spPr>
          <a:xfrm>
            <a:off x="6400800" y="1920239"/>
            <a:ext cx="4937761" cy="177274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000"/>
            </a:lvl1pPr>
          </a:lstStyle>
          <a:p>
            <a:pPr/>
            <a:r>
              <a:t>Manuel needs a way to see the new photos of his great-grandson, to hear the family group and to reply with a short sentence, without learning the smartphone. He needs the sender’s name first, because a message that says “olá pai” may be a scam.</a:t>
            </a:r>
          </a:p>
        </p:txBody>
      </p:sp>
      <p:sp>
        <p:nvSpPr>
          <p:cNvPr id="97" name="Pull quote"/>
          <p:cNvSpPr txBox="1"/>
          <p:nvPr/>
        </p:nvSpPr>
        <p:spPr>
          <a:xfrm>
            <a:off x="548639" y="4888229"/>
            <a:ext cx="11064242"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800">
                <a:solidFill>
                  <a:schemeClr val="accent3"/>
                </a:solidFill>
                <a:latin typeface="Cambria"/>
                <a:ea typeface="Cambria"/>
                <a:cs typeface="Cambria"/>
                <a:sym typeface="Cambria"/>
              </a:defRPr>
            </a:lvl1pPr>
          </a:lstStyle>
          <a:p>
            <a:pPr/>
            <a:r>
              <a:t>“They already got it. They did not get me a way to work it.”</a:t>
            </a:r>
          </a:p>
        </p:txBody>
      </p:sp>
      <p:sp>
        <p:nvSpPr>
          <p:cNvPr id="98" name="Quote attribution"/>
          <p:cNvSpPr txBox="1"/>
          <p:nvPr/>
        </p:nvSpPr>
        <p:spPr>
          <a:xfrm>
            <a:off x="548640" y="5597460"/>
            <a:ext cx="548640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chemeClr val="accent5"/>
                </a:solidFill>
              </a:defRPr>
            </a:lvl1pPr>
          </a:lstStyle>
          <a:p>
            <a:pPr/>
            <a:r>
              <a:t>Manuel, session 1</a:t>
            </a:r>
          </a:p>
        </p:txBody>
      </p:sp>
      <p:sp>
        <p:nvSpPr>
          <p:cNvPr id="99" name="Slide Number Placeholder 0"/>
          <p:cNvSpPr txBox="1"/>
          <p:nvPr>
            <p:ph type="sldNum" sz="quarter" idx="4294967295"/>
          </p:nvPr>
        </p:nvSpPr>
        <p:spPr>
          <a:xfrm>
            <a:off x="11437935" y="6355079"/>
            <a:ext cx="174946" cy="22570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3" name="Text 0"/>
          <p:cNvSpPr txBox="1"/>
          <p:nvPr>
            <p:ph type="title"/>
          </p:nvPr>
        </p:nvSpPr>
        <p:spPr>
          <a:xfrm>
            <a:off x="548639" y="365759"/>
            <a:ext cx="11064242" cy="731521"/>
          </a:xfrm>
          <a:prstGeom prst="rect">
            <a:avLst/>
          </a:prstGeom>
        </p:spPr>
        <p:txBody>
          <a:bodyPr lIns="0" tIns="0" rIns="0" bIns="0" anchor="ctr"/>
          <a:lstStyle/>
          <a:p>
            <a:pPr/>
            <a:r>
              <a:t>Why it matters</a:t>
            </a:r>
          </a:p>
        </p:txBody>
      </p:sp>
      <p:sp>
        <p:nvSpPr>
          <p:cNvPr id="104" name="Stat 1"/>
          <p:cNvSpPr txBox="1"/>
          <p:nvPr/>
        </p:nvSpPr>
        <p:spPr>
          <a:xfrm>
            <a:off x="548639" y="1383029"/>
            <a:ext cx="3520442" cy="800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5400">
                <a:solidFill>
                  <a:schemeClr val="accent3"/>
                </a:solidFill>
                <a:latin typeface="Cambria"/>
                <a:ea typeface="Cambria"/>
                <a:cs typeface="Cambria"/>
                <a:sym typeface="Cambria"/>
              </a:defRPr>
            </a:lvl1pPr>
          </a:lstStyle>
          <a:p>
            <a:pPr/>
            <a:r>
              <a:t>24.3%</a:t>
            </a:r>
          </a:p>
        </p:txBody>
      </p:sp>
      <p:sp>
        <p:nvSpPr>
          <p:cNvPr id="105" name="Stat label 1"/>
          <p:cNvSpPr txBox="1"/>
          <p:nvPr/>
        </p:nvSpPr>
        <p:spPr>
          <a:xfrm>
            <a:off x="548639" y="2286000"/>
            <a:ext cx="3520442" cy="4631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600"/>
            </a:lvl1pPr>
          </a:lstStyle>
          <a:p>
            <a:pPr/>
            <a:r>
              <a:t>of people in Portugal are 65 or older, second-highest in the EU (EU: 22.0%)</a:t>
            </a:r>
          </a:p>
        </p:txBody>
      </p:sp>
      <p:sp>
        <p:nvSpPr>
          <p:cNvPr id="106" name="Stat source 1"/>
          <p:cNvSpPr txBox="1"/>
          <p:nvPr/>
        </p:nvSpPr>
        <p:spPr>
          <a:xfrm>
            <a:off x="548639" y="3270425"/>
            <a:ext cx="3520442"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chemeClr val="accent5"/>
                </a:solidFill>
              </a:defRPr>
            </a:lvl1pPr>
          </a:lstStyle>
          <a:p>
            <a:pPr/>
            <a:r>
              <a:t>Eurostat, 1 January 2025</a:t>
            </a:r>
          </a:p>
        </p:txBody>
      </p:sp>
      <p:sp>
        <p:nvSpPr>
          <p:cNvPr id="107" name="Stat 2"/>
          <p:cNvSpPr txBox="1"/>
          <p:nvPr/>
        </p:nvSpPr>
        <p:spPr>
          <a:xfrm>
            <a:off x="4343400" y="1383029"/>
            <a:ext cx="3520441" cy="800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5400">
                <a:solidFill>
                  <a:schemeClr val="accent3"/>
                </a:solidFill>
                <a:latin typeface="Cambria"/>
                <a:ea typeface="Cambria"/>
                <a:cs typeface="Cambria"/>
                <a:sym typeface="Cambria"/>
              </a:defRPr>
            </a:lvl1pPr>
          </a:lstStyle>
          <a:p>
            <a:pPr/>
            <a:r>
              <a:t>36%</a:t>
            </a:r>
          </a:p>
        </p:txBody>
      </p:sp>
      <p:sp>
        <p:nvSpPr>
          <p:cNvPr id="108" name="Stat label 2"/>
          <p:cNvSpPr txBox="1"/>
          <p:nvPr/>
        </p:nvSpPr>
        <p:spPr>
          <a:xfrm>
            <a:off x="4343400" y="2286000"/>
            <a:ext cx="3520441" cy="4631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600"/>
            </a:lvl1pPr>
          </a:lstStyle>
          <a:p>
            <a:pPr/>
            <a:r>
              <a:t>of 65–74 year-olds in Portugal have never used the internet (EU: 16%)</a:t>
            </a:r>
          </a:p>
        </p:txBody>
      </p:sp>
      <p:sp>
        <p:nvSpPr>
          <p:cNvPr id="109" name="Stat source 2"/>
          <p:cNvSpPr txBox="1"/>
          <p:nvPr/>
        </p:nvSpPr>
        <p:spPr>
          <a:xfrm>
            <a:off x="4343400" y="3270425"/>
            <a:ext cx="352044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chemeClr val="accent5"/>
                </a:solidFill>
              </a:defRPr>
            </a:lvl1pPr>
          </a:lstStyle>
          <a:p>
            <a:pPr/>
            <a:r>
              <a:t>Eurostat, 2025</a:t>
            </a:r>
          </a:p>
        </p:txBody>
      </p:sp>
      <p:sp>
        <p:nvSpPr>
          <p:cNvPr id="110" name="Stat 3"/>
          <p:cNvSpPr txBox="1"/>
          <p:nvPr/>
        </p:nvSpPr>
        <p:spPr>
          <a:xfrm>
            <a:off x="8138159" y="1383029"/>
            <a:ext cx="3520441" cy="800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5400">
                <a:solidFill>
                  <a:schemeClr val="accent3"/>
                </a:solidFill>
                <a:latin typeface="Cambria"/>
                <a:ea typeface="Cambria"/>
                <a:cs typeface="Cambria"/>
                <a:sym typeface="Cambria"/>
              </a:defRPr>
            </a:lvl1pPr>
          </a:lstStyle>
          <a:p>
            <a:pPr/>
            <a:r>
              <a:t>517,146</a:t>
            </a:r>
          </a:p>
        </p:txBody>
      </p:sp>
      <p:sp>
        <p:nvSpPr>
          <p:cNvPr id="111" name="Stat label 3"/>
          <p:cNvSpPr txBox="1"/>
          <p:nvPr/>
        </p:nvSpPr>
        <p:spPr>
          <a:xfrm>
            <a:off x="8138159" y="2286000"/>
            <a:ext cx="3520441" cy="4631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600"/>
            </a:lvl1pPr>
          </a:lstStyle>
          <a:p>
            <a:pPr/>
            <a:r>
              <a:t>people aged 65 or older lived alone in Portugal at the last census</a:t>
            </a:r>
          </a:p>
        </p:txBody>
      </p:sp>
      <p:sp>
        <p:nvSpPr>
          <p:cNvPr id="112" name="Stat source 3"/>
          <p:cNvSpPr txBox="1"/>
          <p:nvPr/>
        </p:nvSpPr>
        <p:spPr>
          <a:xfrm>
            <a:off x="8138159" y="3270425"/>
            <a:ext cx="352044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chemeClr val="accent5"/>
                </a:solidFill>
              </a:defRPr>
            </a:lvl1pPr>
          </a:lstStyle>
          <a:p>
            <a:pPr/>
            <a:r>
              <a:t>INE, Census 2021</a:t>
            </a:r>
          </a:p>
        </p:txBody>
      </p:sp>
      <p:sp>
        <p:nvSpPr>
          <p:cNvPr id="113" name="Exists label"/>
          <p:cNvSpPr txBox="1"/>
          <p:nvPr/>
        </p:nvSpPr>
        <p:spPr>
          <a:xfrm>
            <a:off x="548639" y="3902536"/>
            <a:ext cx="11064242"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lvl1pPr>
          </a:lstStyle>
          <a:p>
            <a:pPr/>
            <a:r>
              <a:t>What already exists</a:t>
            </a:r>
          </a:p>
        </p:txBody>
      </p:sp>
      <p:sp>
        <p:nvSpPr>
          <p:cNvPr id="114" name="Product 1"/>
          <p:cNvSpPr/>
          <p:nvPr/>
        </p:nvSpPr>
        <p:spPr>
          <a:xfrm>
            <a:off x="548640" y="4343400"/>
            <a:ext cx="3520441" cy="1097281"/>
          </a:xfrm>
          <a:prstGeom prst="roundRect">
            <a:avLst>
              <a:gd name="adj" fmla="val 10000"/>
            </a:avLst>
          </a:prstGeom>
          <a:solidFill>
            <a:srgbClr val="F2F0F6"/>
          </a:solidFill>
          <a:ln w="12700">
            <a:solidFill>
              <a:srgbClr val="F2F0F6"/>
            </a:solidFill>
          </a:ln>
        </p:spPr>
        <p:txBody>
          <a:bodyPr lIns="45719" rIns="45719"/>
          <a:lstStyle/>
          <a:p>
            <a:pPr/>
          </a:p>
        </p:txBody>
      </p:sp>
      <p:sp>
        <p:nvSpPr>
          <p:cNvPr id="115" name="Product text 1"/>
          <p:cNvSpPr txBox="1"/>
          <p:nvPr/>
        </p:nvSpPr>
        <p:spPr>
          <a:xfrm>
            <a:off x="777240" y="4684462"/>
            <a:ext cx="3063240" cy="4151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500"/>
            </a:pPr>
            <a:r>
              <a:t>Minimal phones</a:t>
            </a:r>
          </a:p>
          <a:p>
            <a:pPr>
              <a:defRPr sz="1500">
                <a:solidFill>
                  <a:schemeClr val="accent5"/>
                </a:solidFill>
              </a:defRPr>
            </a:pPr>
            <a:r>
              <a:t>Light Phone: no WhatsApp</a:t>
            </a:r>
          </a:p>
        </p:txBody>
      </p:sp>
      <p:sp>
        <p:nvSpPr>
          <p:cNvPr id="116" name="Product 2"/>
          <p:cNvSpPr/>
          <p:nvPr/>
        </p:nvSpPr>
        <p:spPr>
          <a:xfrm>
            <a:off x="4343400" y="4343400"/>
            <a:ext cx="3520441" cy="1097281"/>
          </a:xfrm>
          <a:prstGeom prst="roundRect">
            <a:avLst>
              <a:gd name="adj" fmla="val 10000"/>
            </a:avLst>
          </a:prstGeom>
          <a:solidFill>
            <a:srgbClr val="F2F0F6"/>
          </a:solidFill>
          <a:ln w="12700">
            <a:solidFill>
              <a:srgbClr val="F2F0F6"/>
            </a:solidFill>
          </a:ln>
        </p:spPr>
        <p:txBody>
          <a:bodyPr lIns="45719" rIns="45719"/>
          <a:lstStyle/>
          <a:p>
            <a:pPr/>
          </a:p>
        </p:txBody>
      </p:sp>
      <p:sp>
        <p:nvSpPr>
          <p:cNvPr id="117" name="Product text 2"/>
          <p:cNvSpPr txBox="1"/>
          <p:nvPr/>
        </p:nvSpPr>
        <p:spPr>
          <a:xfrm>
            <a:off x="4572000" y="4570162"/>
            <a:ext cx="3063240" cy="6437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500"/>
            </a:pPr>
            <a:r>
              <a:t>Simplified modes, launchers</a:t>
            </a:r>
          </a:p>
          <a:p>
            <a:pPr>
              <a:defRPr sz="1500">
                <a:solidFill>
                  <a:schemeClr val="accent5"/>
                </a:solidFill>
              </a:defRPr>
            </a:pPr>
            <a:r>
              <a:t>Assistive Access, BIG Launcher: WhatsApp keeps its usual design</a:t>
            </a:r>
          </a:p>
        </p:txBody>
      </p:sp>
      <p:sp>
        <p:nvSpPr>
          <p:cNvPr id="118" name="Product 3"/>
          <p:cNvSpPr/>
          <p:nvPr/>
        </p:nvSpPr>
        <p:spPr>
          <a:xfrm>
            <a:off x="8138159" y="4343400"/>
            <a:ext cx="3520441" cy="1097281"/>
          </a:xfrm>
          <a:prstGeom prst="roundRect">
            <a:avLst>
              <a:gd name="adj" fmla="val 10000"/>
            </a:avLst>
          </a:prstGeom>
          <a:solidFill>
            <a:srgbClr val="F2F0F6"/>
          </a:solidFill>
          <a:ln w="12700">
            <a:solidFill>
              <a:srgbClr val="F2F0F6"/>
            </a:solidFill>
          </a:ln>
        </p:spPr>
        <p:txBody>
          <a:bodyPr lIns="45719" rIns="45719"/>
          <a:lstStyle/>
          <a:p>
            <a:pPr/>
          </a:p>
        </p:txBody>
      </p:sp>
      <p:sp>
        <p:nvSpPr>
          <p:cNvPr id="119" name="Product text 3"/>
          <p:cNvSpPr txBox="1"/>
          <p:nvPr/>
        </p:nvSpPr>
        <p:spPr>
          <a:xfrm>
            <a:off x="8366759" y="4570162"/>
            <a:ext cx="3063241" cy="6437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500"/>
            </a:pPr>
            <a:r>
              <a:t>Voice assistants</a:t>
            </a:r>
          </a:p>
          <a:p>
            <a:pPr>
              <a:defRPr sz="1500">
                <a:solidFill>
                  <a:schemeClr val="accent5"/>
                </a:solidFill>
              </a:defRPr>
            </a:pPr>
            <a:r>
              <a:t>Alexa, Google Nest: no European Portuguese</a:t>
            </a:r>
          </a:p>
        </p:txBody>
      </p:sp>
      <p:sp>
        <p:nvSpPr>
          <p:cNvPr id="120" name="Gap"/>
          <p:cNvSpPr txBox="1"/>
          <p:nvPr/>
        </p:nvSpPr>
        <p:spPr>
          <a:xfrm>
            <a:off x="548639" y="5596128"/>
            <a:ext cx="11064242" cy="21905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lvl1pPr>
          </a:lstStyle>
          <a:p>
            <a:pPr/>
            <a:r>
              <a:t>None gives him his smartphone’s family features in a form he can use.</a:t>
            </a:r>
          </a:p>
        </p:txBody>
      </p:sp>
      <p:sp>
        <p:nvSpPr>
          <p:cNvPr id="121" name="Slide Number Placeholder 0"/>
          <p:cNvSpPr txBox="1"/>
          <p:nvPr>
            <p:ph type="sldNum" sz="quarter" idx="4294967295"/>
          </p:nvPr>
        </p:nvSpPr>
        <p:spPr>
          <a:xfrm>
            <a:off x="11437935" y="6355079"/>
            <a:ext cx="174946" cy="22570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5" name="Text 0"/>
          <p:cNvSpPr txBox="1"/>
          <p:nvPr>
            <p:ph type="title"/>
          </p:nvPr>
        </p:nvSpPr>
        <p:spPr>
          <a:xfrm>
            <a:off x="548639" y="365759"/>
            <a:ext cx="11064242" cy="731521"/>
          </a:xfrm>
          <a:prstGeom prst="rect">
            <a:avLst/>
          </a:prstGeom>
        </p:spPr>
        <p:txBody>
          <a:bodyPr lIns="0" tIns="0" rIns="0" bIns="0" anchor="ctr"/>
          <a:lstStyle/>
          <a:p>
            <a:pPr/>
            <a:r>
              <a:t>Session 1 · Exploring the problem</a:t>
            </a:r>
          </a:p>
        </p:txBody>
      </p:sp>
      <p:sp>
        <p:nvSpPr>
          <p:cNvPr id="126" name="Session 1 meta"/>
          <p:cNvSpPr txBox="1"/>
          <p:nvPr/>
        </p:nvSpPr>
        <p:spPr>
          <a:xfrm>
            <a:off x="548639" y="1164021"/>
            <a:ext cx="11064242" cy="186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chemeClr val="accent5"/>
                </a:solidFill>
              </a:defRPr>
            </a:lvl1pPr>
          </a:lstStyle>
          <a:p>
            <a:pPr>
              <a:defRPr i="1">
                <a:solidFill>
                  <a:schemeClr val="accent3"/>
                </a:solidFill>
              </a:defRPr>
            </a:pPr>
            <a:r>
              <a:rPr i="0">
                <a:solidFill>
                  <a:schemeClr val="accent5"/>
                </a:solidFill>
              </a:rPr>
              <a:t> · his kitchen · about 70 minutes · Discover and Define</a:t>
            </a:r>
          </a:p>
        </p:txBody>
      </p:sp>
      <p:sp>
        <p:nvSpPr>
          <p:cNvPr id="127" name="Directed storytelling card"/>
          <p:cNvSpPr/>
          <p:nvPr/>
        </p:nvSpPr>
        <p:spPr>
          <a:xfrm>
            <a:off x="548640" y="1600200"/>
            <a:ext cx="3520441" cy="2057400"/>
          </a:xfrm>
          <a:prstGeom prst="roundRect">
            <a:avLst>
              <a:gd name="adj" fmla="val 5333"/>
            </a:avLst>
          </a:prstGeom>
          <a:solidFill>
            <a:srgbClr val="F2F0F6"/>
          </a:solidFill>
          <a:ln w="12700">
            <a:solidFill>
              <a:srgbClr val="F2F0F6"/>
            </a:solidFill>
          </a:ln>
        </p:spPr>
        <p:txBody>
          <a:bodyPr lIns="45719" rIns="45719"/>
          <a:lstStyle/>
          <a:p>
            <a:pPr/>
          </a:p>
        </p:txBody>
      </p:sp>
      <p:sp>
        <p:nvSpPr>
          <p:cNvPr id="128" name="Directed storytelling circle"/>
          <p:cNvSpPr/>
          <p:nvPr/>
        </p:nvSpPr>
        <p:spPr>
          <a:xfrm>
            <a:off x="777240" y="1828800"/>
            <a:ext cx="548641" cy="548641"/>
          </a:xfrm>
          <a:prstGeom prst="ellipse">
            <a:avLst/>
          </a:prstGeom>
          <a:solidFill>
            <a:schemeClr val="accent1"/>
          </a:solidFill>
          <a:ln w="12700">
            <a:solidFill>
              <a:schemeClr val="accent1"/>
            </a:solidFill>
          </a:ln>
        </p:spPr>
        <p:txBody>
          <a:bodyPr lIns="45719" rIns="45719"/>
          <a:lstStyle/>
          <a:p>
            <a:pPr/>
          </a:p>
        </p:txBody>
      </p:sp>
      <p:pic>
        <p:nvPicPr>
          <p:cNvPr id="129" name="Directed storytelling icon" descr="Directed storytelling icon"/>
          <p:cNvPicPr>
            <a:picLocks noChangeAspect="1"/>
          </p:cNvPicPr>
          <p:nvPr/>
        </p:nvPicPr>
        <p:blipFill>
          <a:blip r:embed="rId3">
            <a:extLst/>
          </a:blip>
          <a:stretch>
            <a:fillRect/>
          </a:stretch>
        </p:blipFill>
        <p:spPr>
          <a:xfrm>
            <a:off x="919886" y="1971445"/>
            <a:ext cx="263348" cy="263348"/>
          </a:xfrm>
          <a:prstGeom prst="rect">
            <a:avLst/>
          </a:prstGeom>
          <a:ln w="12700">
            <a:miter lim="400000"/>
          </a:ln>
        </p:spPr>
      </p:pic>
      <p:sp>
        <p:nvSpPr>
          <p:cNvPr id="130" name="Directed storytelling name"/>
          <p:cNvSpPr txBox="1"/>
          <p:nvPr/>
        </p:nvSpPr>
        <p:spPr>
          <a:xfrm>
            <a:off x="1463039" y="1982296"/>
            <a:ext cx="2468881"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lvl1pPr>
          </a:lstStyle>
          <a:p>
            <a:pPr/>
            <a:r>
              <a:t>Directed storytelling</a:t>
            </a:r>
          </a:p>
        </p:txBody>
      </p:sp>
      <p:sp>
        <p:nvSpPr>
          <p:cNvPr id="131" name="Directed storytelling description"/>
          <p:cNvSpPr txBox="1"/>
          <p:nvPr/>
        </p:nvSpPr>
        <p:spPr>
          <a:xfrm>
            <a:off x="777240" y="2496311"/>
            <a:ext cx="3063240" cy="41515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500"/>
            </a:lvl1pPr>
          </a:lstStyle>
          <a:p>
            <a:pPr/>
            <a:r>
              <a:t>The missed blood test, the Sunday lunch, the “olá pai” scam</a:t>
            </a:r>
          </a:p>
        </p:txBody>
      </p:sp>
      <p:sp>
        <p:nvSpPr>
          <p:cNvPr id="132" name="Directed storytelling materials"/>
          <p:cNvSpPr txBox="1"/>
          <p:nvPr/>
        </p:nvSpPr>
        <p:spPr>
          <a:xfrm>
            <a:off x="777240" y="3318563"/>
            <a:ext cx="3063240"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chemeClr val="accent5"/>
                </a:solidFill>
              </a:defRPr>
            </a:lvl1pPr>
          </a:lstStyle>
          <a:p>
            <a:pPr/>
            <a:r>
              <a:t>Materials: interview guide, recorder</a:t>
            </a:r>
          </a:p>
        </p:txBody>
      </p:sp>
      <p:sp>
        <p:nvSpPr>
          <p:cNvPr id="133" name="Phone tour card"/>
          <p:cNvSpPr/>
          <p:nvPr/>
        </p:nvSpPr>
        <p:spPr>
          <a:xfrm>
            <a:off x="4343400" y="1600200"/>
            <a:ext cx="3520441" cy="2057400"/>
          </a:xfrm>
          <a:prstGeom prst="roundRect">
            <a:avLst>
              <a:gd name="adj" fmla="val 5333"/>
            </a:avLst>
          </a:prstGeom>
          <a:solidFill>
            <a:srgbClr val="F2F0F6"/>
          </a:solidFill>
          <a:ln w="12700">
            <a:solidFill>
              <a:srgbClr val="F2F0F6"/>
            </a:solidFill>
          </a:ln>
        </p:spPr>
        <p:txBody>
          <a:bodyPr lIns="45719" rIns="45719"/>
          <a:lstStyle/>
          <a:p>
            <a:pPr/>
          </a:p>
        </p:txBody>
      </p:sp>
      <p:sp>
        <p:nvSpPr>
          <p:cNvPr id="134" name="Phone tour circle"/>
          <p:cNvSpPr/>
          <p:nvPr/>
        </p:nvSpPr>
        <p:spPr>
          <a:xfrm>
            <a:off x="4572000" y="1828800"/>
            <a:ext cx="548641" cy="548641"/>
          </a:xfrm>
          <a:prstGeom prst="ellipse">
            <a:avLst/>
          </a:prstGeom>
          <a:solidFill>
            <a:schemeClr val="accent1"/>
          </a:solidFill>
          <a:ln w="12700">
            <a:solidFill>
              <a:schemeClr val="accent1"/>
            </a:solidFill>
          </a:ln>
        </p:spPr>
        <p:txBody>
          <a:bodyPr lIns="45719" rIns="45719"/>
          <a:lstStyle/>
          <a:p>
            <a:pPr/>
          </a:p>
        </p:txBody>
      </p:sp>
      <p:pic>
        <p:nvPicPr>
          <p:cNvPr id="135" name="Phone tour icon" descr="Phone tour icon"/>
          <p:cNvPicPr>
            <a:picLocks noChangeAspect="1"/>
          </p:cNvPicPr>
          <p:nvPr/>
        </p:nvPicPr>
        <p:blipFill>
          <a:blip r:embed="rId4">
            <a:extLst/>
          </a:blip>
          <a:stretch>
            <a:fillRect/>
          </a:stretch>
        </p:blipFill>
        <p:spPr>
          <a:xfrm>
            <a:off x="4714645" y="1971445"/>
            <a:ext cx="263348" cy="263348"/>
          </a:xfrm>
          <a:prstGeom prst="rect">
            <a:avLst/>
          </a:prstGeom>
          <a:ln w="12700">
            <a:miter lim="400000"/>
          </a:ln>
        </p:spPr>
      </p:pic>
      <p:sp>
        <p:nvSpPr>
          <p:cNvPr id="136" name="Phone tour name"/>
          <p:cNvSpPr txBox="1"/>
          <p:nvPr/>
        </p:nvSpPr>
        <p:spPr>
          <a:xfrm>
            <a:off x="5257800" y="1982296"/>
            <a:ext cx="2468881"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lvl1pPr>
          </a:lstStyle>
          <a:p>
            <a:pPr/>
            <a:r>
              <a:t>Phone tour</a:t>
            </a:r>
          </a:p>
        </p:txBody>
      </p:sp>
      <p:sp>
        <p:nvSpPr>
          <p:cNvPr id="137" name="Phone tour description"/>
          <p:cNvSpPr txBox="1"/>
          <p:nvPr/>
        </p:nvSpPr>
        <p:spPr>
          <a:xfrm>
            <a:off x="4572000" y="2496311"/>
            <a:ext cx="3063240" cy="64375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500"/>
            </a:lvl1pPr>
          </a:lstStyle>
          <a:p>
            <a:pPr/>
            <a:r>
              <a:t>On the Samsung: taps too short, a pinch that shrank the text, the keyboard by accident</a:t>
            </a:r>
          </a:p>
        </p:txBody>
      </p:sp>
      <p:sp>
        <p:nvSpPr>
          <p:cNvPr id="138" name="Phone tour materials"/>
          <p:cNvSpPr txBox="1"/>
          <p:nvPr/>
        </p:nvSpPr>
        <p:spPr>
          <a:xfrm>
            <a:off x="4572000" y="3318563"/>
            <a:ext cx="3063240"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chemeClr val="accent5"/>
                </a:solidFill>
              </a:defRPr>
            </a:lvl1pPr>
          </a:lstStyle>
          <a:p>
            <a:pPr/>
            <a:r>
              <a:t>Materials: both his phones</a:t>
            </a:r>
          </a:p>
        </p:txBody>
      </p:sp>
      <p:sp>
        <p:nvSpPr>
          <p:cNvPr id="139" name="Communication map card"/>
          <p:cNvSpPr/>
          <p:nvPr/>
        </p:nvSpPr>
        <p:spPr>
          <a:xfrm>
            <a:off x="8138159" y="1600200"/>
            <a:ext cx="3520441" cy="2057400"/>
          </a:xfrm>
          <a:prstGeom prst="roundRect">
            <a:avLst>
              <a:gd name="adj" fmla="val 5333"/>
            </a:avLst>
          </a:prstGeom>
          <a:solidFill>
            <a:srgbClr val="F2F0F6"/>
          </a:solidFill>
          <a:ln w="12700">
            <a:solidFill>
              <a:srgbClr val="F2F0F6"/>
            </a:solidFill>
          </a:ln>
        </p:spPr>
        <p:txBody>
          <a:bodyPr lIns="45719" rIns="45719"/>
          <a:lstStyle/>
          <a:p>
            <a:pPr/>
          </a:p>
        </p:txBody>
      </p:sp>
      <p:sp>
        <p:nvSpPr>
          <p:cNvPr id="140" name="Communication map circle"/>
          <p:cNvSpPr/>
          <p:nvPr/>
        </p:nvSpPr>
        <p:spPr>
          <a:xfrm>
            <a:off x="8366759" y="1828800"/>
            <a:ext cx="548641" cy="548641"/>
          </a:xfrm>
          <a:prstGeom prst="ellipse">
            <a:avLst/>
          </a:prstGeom>
          <a:solidFill>
            <a:schemeClr val="accent1"/>
          </a:solidFill>
          <a:ln w="12700">
            <a:solidFill>
              <a:schemeClr val="accent1"/>
            </a:solidFill>
          </a:ln>
        </p:spPr>
        <p:txBody>
          <a:bodyPr lIns="45719" rIns="45719"/>
          <a:lstStyle/>
          <a:p>
            <a:pPr/>
          </a:p>
        </p:txBody>
      </p:sp>
      <p:pic>
        <p:nvPicPr>
          <p:cNvPr id="141" name="Communication map icon" descr="Communication map icon"/>
          <p:cNvPicPr>
            <a:picLocks noChangeAspect="1"/>
          </p:cNvPicPr>
          <p:nvPr/>
        </p:nvPicPr>
        <p:blipFill>
          <a:blip r:embed="rId5">
            <a:extLst/>
          </a:blip>
          <a:stretch>
            <a:fillRect/>
          </a:stretch>
        </p:blipFill>
        <p:spPr>
          <a:xfrm>
            <a:off x="8509406" y="1971445"/>
            <a:ext cx="263348" cy="263348"/>
          </a:xfrm>
          <a:prstGeom prst="rect">
            <a:avLst/>
          </a:prstGeom>
          <a:ln w="12700">
            <a:miter lim="400000"/>
          </a:ln>
        </p:spPr>
      </p:pic>
      <p:sp>
        <p:nvSpPr>
          <p:cNvPr id="142" name="Communication map name"/>
          <p:cNvSpPr txBox="1"/>
          <p:nvPr/>
        </p:nvSpPr>
        <p:spPr>
          <a:xfrm>
            <a:off x="9052559" y="1982296"/>
            <a:ext cx="2468881"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lvl1pPr>
          </a:lstStyle>
          <a:p>
            <a:pPr/>
            <a:r>
              <a:t>Communication map</a:t>
            </a:r>
          </a:p>
        </p:txBody>
      </p:sp>
      <p:sp>
        <p:nvSpPr>
          <p:cNvPr id="143" name="Communication map description"/>
          <p:cNvSpPr txBox="1"/>
          <p:nvPr/>
        </p:nvSpPr>
        <p:spPr>
          <a:xfrm>
            <a:off x="8366759" y="2496311"/>
            <a:ext cx="3063241" cy="41515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500"/>
            </a:lvl1pPr>
          </a:lstStyle>
          <a:p>
            <a:pPr/>
            <a:r>
              <a:t>He placed every dot: calls with known names green, “the group” red</a:t>
            </a:r>
          </a:p>
        </p:txBody>
      </p:sp>
      <p:sp>
        <p:nvSpPr>
          <p:cNvPr id="144" name="Communication map materials"/>
          <p:cNvSpPr txBox="1"/>
          <p:nvPr/>
        </p:nvSpPr>
        <p:spPr>
          <a:xfrm>
            <a:off x="8366759" y="3318563"/>
            <a:ext cx="306324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chemeClr val="accent5"/>
                </a:solidFill>
              </a:defRPr>
            </a:lvl1pPr>
          </a:lstStyle>
          <a:p>
            <a:pPr/>
            <a:r>
              <a:t>Materials: A3 sheet, green and red dots</a:t>
            </a:r>
          </a:p>
        </p:txBody>
      </p:sp>
      <p:sp>
        <p:nvSpPr>
          <p:cNvPr id="145" name="Adapted label"/>
          <p:cNvSpPr txBox="1"/>
          <p:nvPr/>
        </p:nvSpPr>
        <p:spPr>
          <a:xfrm>
            <a:off x="548639" y="3993976"/>
            <a:ext cx="6949442"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lvl1pPr>
          </a:lstStyle>
          <a:p>
            <a:pPr/>
            <a:r>
              <a:t>How we adapted it to him</a:t>
            </a:r>
          </a:p>
        </p:txBody>
      </p:sp>
      <p:sp>
        <p:nvSpPr>
          <p:cNvPr id="146" name="Adaptations"/>
          <p:cNvSpPr txBox="1"/>
          <p:nvPr/>
        </p:nvSpPr>
        <p:spPr>
          <a:xfrm>
            <a:off x="548640" y="4389120"/>
            <a:ext cx="7132319" cy="11997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a:spcBef>
                <a:spcPts val="600"/>
              </a:spcBef>
              <a:buSzPct val="100000"/>
              <a:buChar char="•"/>
              <a:defRPr sz="1600"/>
            </a:pPr>
            <a:r>
              <a:t>He hosted a game of bisca before any question</a:t>
            </a:r>
          </a:p>
          <a:p>
            <a:pPr marL="342900" indent="-342900">
              <a:spcBef>
                <a:spcPts val="600"/>
              </a:spcBef>
              <a:buSzPct val="100000"/>
              <a:buChar char="•"/>
              <a:defRPr sz="1600"/>
            </a:pPr>
            <a:r>
              <a:t>We read the consent aloud, in plain Portuguese</a:t>
            </a:r>
          </a:p>
          <a:p>
            <a:pPr marL="342900" indent="-342900">
              <a:spcBef>
                <a:spcPts val="600"/>
              </a:spcBef>
              <a:buSzPct val="100000"/>
              <a:buChar char="•"/>
              <a:defRPr sz="1600"/>
            </a:pPr>
            <a:r>
              <a:t>One of us asked at a time; we said every step aloud when we touched his phone</a:t>
            </a:r>
          </a:p>
          <a:p>
            <a:pPr marL="342900" indent="-342900">
              <a:spcBef>
                <a:spcPts val="600"/>
              </a:spcBef>
              <a:buSzPct val="100000"/>
              <a:buChar char="•"/>
              <a:defRPr sz="1600"/>
            </a:pPr>
            <a:r>
              <a:t>He could refuse categories on the map, and did</a:t>
            </a:r>
          </a:p>
        </p:txBody>
      </p:sp>
      <p:sp>
        <p:nvSpPr>
          <p:cNvPr id="147" name="Map photo placeholder text"/>
          <p:cNvSpPr txBox="1"/>
          <p:nvPr/>
        </p:nvSpPr>
        <p:spPr>
          <a:xfrm>
            <a:off x="8366759" y="4890201"/>
            <a:ext cx="306324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i="1" sz="1500">
                <a:solidFill>
                  <a:schemeClr val="accent3"/>
                </a:solidFill>
              </a:defRPr>
            </a:lvl1pPr>
          </a:lstStyle>
          <a:p>
            <a:pPr/>
            <a:r>
              <a:t> </a:t>
            </a:r>
          </a:p>
        </p:txBody>
      </p:sp>
      <p:sp>
        <p:nvSpPr>
          <p:cNvPr id="148" name="Slide Number Placeholder 0"/>
          <p:cNvSpPr txBox="1"/>
          <p:nvPr>
            <p:ph type="sldNum" sz="quarter" idx="4294967295"/>
          </p:nvPr>
        </p:nvSpPr>
        <p:spPr>
          <a:xfrm>
            <a:off x="11437935" y="6355079"/>
            <a:ext cx="174946" cy="22570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2" name="Text 0"/>
          <p:cNvSpPr txBox="1"/>
          <p:nvPr>
            <p:ph type="title"/>
          </p:nvPr>
        </p:nvSpPr>
        <p:spPr>
          <a:xfrm>
            <a:off x="548639" y="365759"/>
            <a:ext cx="11064242" cy="731521"/>
          </a:xfrm>
          <a:prstGeom prst="rect">
            <a:avLst/>
          </a:prstGeom>
        </p:spPr>
        <p:txBody>
          <a:bodyPr lIns="0" tIns="0" rIns="0" bIns="0" anchor="ctr"/>
          <a:lstStyle/>
          <a:p>
            <a:pPr/>
            <a:r>
              <a:t>Session 1 · What we learned, in his words</a:t>
            </a:r>
          </a:p>
        </p:txBody>
      </p:sp>
      <p:sp>
        <p:nvSpPr>
          <p:cNvPr id="153" name="The smartphone confuses him card"/>
          <p:cNvSpPr/>
          <p:nvPr/>
        </p:nvSpPr>
        <p:spPr>
          <a:xfrm>
            <a:off x="3398520" y="2540307"/>
            <a:ext cx="5394960" cy="2148841"/>
          </a:xfrm>
          <a:prstGeom prst="roundRect">
            <a:avLst>
              <a:gd name="adj" fmla="val 5106"/>
            </a:avLst>
          </a:prstGeom>
          <a:solidFill>
            <a:srgbClr val="F2F0F6"/>
          </a:solidFill>
          <a:ln w="12700">
            <a:solidFill>
              <a:srgbClr val="F2F0F6"/>
            </a:solidFill>
          </a:ln>
        </p:spPr>
        <p:txBody>
          <a:bodyPr lIns="45719" rIns="45719"/>
          <a:lstStyle/>
          <a:p>
            <a:pPr/>
          </a:p>
        </p:txBody>
      </p:sp>
      <p:sp>
        <p:nvSpPr>
          <p:cNvPr id="154" name="The smartphone confuses him label"/>
          <p:cNvSpPr txBox="1"/>
          <p:nvPr/>
        </p:nvSpPr>
        <p:spPr>
          <a:xfrm>
            <a:off x="3718560" y="2855067"/>
            <a:ext cx="4754881" cy="15686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200">
                <a:solidFill>
                  <a:schemeClr val="accent2"/>
                </a:solidFill>
              </a:defRPr>
            </a:lvl1pPr>
          </a:lstStyle>
          <a:p>
            <a:pPr/>
            <a:r>
              <a:t>THE SMARTPHONE CONFUSES HIM</a:t>
            </a:r>
          </a:p>
        </p:txBody>
      </p:sp>
      <p:sp>
        <p:nvSpPr>
          <p:cNvPr id="155" name="The smartphone confuses him quote"/>
          <p:cNvSpPr txBox="1"/>
          <p:nvPr/>
        </p:nvSpPr>
        <p:spPr>
          <a:xfrm>
            <a:off x="3718560" y="3180387"/>
            <a:ext cx="4754881" cy="711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400">
                <a:latin typeface="Cambria"/>
                <a:ea typeface="Cambria"/>
                <a:cs typeface="Cambria"/>
                <a:sym typeface="Cambria"/>
              </a:defRPr>
            </a:lvl1pPr>
          </a:lstStyle>
          <a:p>
            <a:pPr/>
            <a:r>
              <a:t>“I broke the letters. Put them back. Do not laugh.”</a:t>
            </a:r>
          </a:p>
        </p:txBody>
      </p:sp>
      <p:sp>
        <p:nvSpPr>
          <p:cNvPr id="156" name="Slide Number Placeholder 0"/>
          <p:cNvSpPr txBox="1"/>
          <p:nvPr>
            <p:ph type="sldNum" sz="quarter" idx="4294967295"/>
          </p:nvPr>
        </p:nvSpPr>
        <p:spPr>
          <a:xfrm>
            <a:off x="11437935" y="6355079"/>
            <a:ext cx="174946" cy="22570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0" name="Text 0"/>
          <p:cNvSpPr txBox="1"/>
          <p:nvPr>
            <p:ph type="title"/>
          </p:nvPr>
        </p:nvSpPr>
        <p:spPr>
          <a:xfrm>
            <a:off x="548639" y="365759"/>
            <a:ext cx="11064242" cy="731521"/>
          </a:xfrm>
          <a:prstGeom prst="rect">
            <a:avLst/>
          </a:prstGeom>
        </p:spPr>
        <p:txBody>
          <a:bodyPr lIns="0" tIns="0" rIns="0" bIns="0" anchor="ctr"/>
          <a:lstStyle/>
          <a:p>
            <a:pPr/>
            <a:r>
              <a:t>Session 2 · The smartphone features he wants</a:t>
            </a:r>
          </a:p>
        </p:txBody>
      </p:sp>
      <p:sp>
        <p:nvSpPr>
          <p:cNvPr id="161" name="Session 2 meta"/>
          <p:cNvSpPr txBox="1"/>
          <p:nvPr/>
        </p:nvSpPr>
        <p:spPr>
          <a:xfrm>
            <a:off x="548639" y="1164021"/>
            <a:ext cx="11064242" cy="186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chemeClr val="accent5"/>
                </a:solidFill>
              </a:defRPr>
            </a:lvl1pPr>
          </a:lstStyle>
          <a:p>
            <a:pPr>
              <a:defRPr i="1">
                <a:solidFill>
                  <a:schemeClr val="accent3"/>
                </a:solidFill>
              </a:defRPr>
            </a:pPr>
            <a:r>
              <a:rPr i="0">
                <a:solidFill>
                  <a:schemeClr val="accent5"/>
                </a:solidFill>
              </a:rPr>
              <a:t>· his kitchen · about 70 minutes · Develop · he sorted 16 cards and wrote 2 of his own</a:t>
            </a:r>
          </a:p>
        </p:txBody>
      </p:sp>
      <p:sp>
        <p:nvSpPr>
          <p:cNvPr id="162" name="PRECISO · NEED card"/>
          <p:cNvSpPr/>
          <p:nvPr/>
        </p:nvSpPr>
        <p:spPr>
          <a:xfrm>
            <a:off x="548640" y="1600200"/>
            <a:ext cx="3520441" cy="4434841"/>
          </a:xfrm>
          <a:prstGeom prst="roundRect">
            <a:avLst>
              <a:gd name="adj" fmla="val 3117"/>
            </a:avLst>
          </a:prstGeom>
          <a:solidFill>
            <a:srgbClr val="F2F0F6"/>
          </a:solidFill>
          <a:ln w="12700">
            <a:solidFill>
              <a:srgbClr val="F2F0F6"/>
            </a:solidFill>
          </a:ln>
        </p:spPr>
        <p:txBody>
          <a:bodyPr lIns="45719" rIns="45719"/>
          <a:lstStyle/>
          <a:p>
            <a:pPr/>
          </a:p>
        </p:txBody>
      </p:sp>
      <p:sp>
        <p:nvSpPr>
          <p:cNvPr id="163" name="PRECISO · NEED label"/>
          <p:cNvSpPr txBox="1"/>
          <p:nvPr/>
        </p:nvSpPr>
        <p:spPr>
          <a:xfrm>
            <a:off x="777240" y="1866708"/>
            <a:ext cx="3063240"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400">
                <a:solidFill>
                  <a:schemeClr val="accent2"/>
                </a:solidFill>
              </a:defRPr>
            </a:lvl1pPr>
          </a:lstStyle>
          <a:p>
            <a:pPr/>
            <a:r>
              <a:t>PRECISO · NEED</a:t>
            </a:r>
          </a:p>
        </p:txBody>
      </p:sp>
      <p:sp>
        <p:nvSpPr>
          <p:cNvPr id="164" name="PRECISO · NEED items"/>
          <p:cNvSpPr txBox="1"/>
          <p:nvPr/>
        </p:nvSpPr>
        <p:spPr>
          <a:xfrm>
            <a:off x="777240" y="2258567"/>
            <a:ext cx="3063240" cy="239635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a:spcBef>
                <a:spcPts val="500"/>
              </a:spcBef>
              <a:buSzPct val="100000"/>
              <a:buChar char="•"/>
              <a:defRPr b="1" sz="1500">
                <a:solidFill>
                  <a:schemeClr val="accent3"/>
                </a:solidFill>
              </a:defRPr>
            </a:pPr>
            <a:r>
              <a:t>Only people my daughter saved*</a:t>
            </a:r>
          </a:p>
          <a:p>
            <a:pPr marL="342900" indent="-342900">
              <a:spcBef>
                <a:spcPts val="500"/>
              </a:spcBef>
              <a:buSzPct val="100000"/>
              <a:buChar char="•"/>
              <a:defRPr sz="1500"/>
            </a:pPr>
            <a:r>
              <a:t>See family photos</a:t>
            </a:r>
          </a:p>
          <a:p>
            <a:pPr marL="342900" indent="-342900">
              <a:spcBef>
                <a:spcPts val="500"/>
              </a:spcBef>
              <a:buSzPct val="100000"/>
              <a:buChar char="•"/>
              <a:defRPr sz="1500"/>
            </a:pPr>
            <a:r>
              <a:t>Hear messages read aloud</a:t>
            </a:r>
          </a:p>
          <a:p>
            <a:pPr marL="342900" indent="-342900">
              <a:spcBef>
                <a:spcPts val="500"/>
              </a:spcBef>
              <a:buSzPct val="100000"/>
              <a:buChar char="•"/>
              <a:defRPr sz="1500"/>
            </a:pPr>
            <a:r>
              <a:t>Know if a message is a scam</a:t>
            </a:r>
          </a:p>
          <a:p>
            <a:pPr marL="342900" indent="-342900">
              <a:spcBef>
                <a:spcPts val="500"/>
              </a:spcBef>
              <a:buSzPct val="100000"/>
              <a:buChar char="•"/>
              <a:defRPr sz="1500"/>
            </a:pPr>
            <a:r>
              <a:t>Call someone, if as easy as the Nokia</a:t>
            </a:r>
          </a:p>
          <a:p>
            <a:pPr marL="342900" indent="-342900">
              <a:spcBef>
                <a:spcPts val="500"/>
              </a:spcBef>
              <a:buSzPct val="100000"/>
              <a:buChar char="•"/>
              <a:defRPr sz="1500"/>
            </a:pPr>
            <a:r>
              <a:t>Answer calls, same condition</a:t>
            </a:r>
          </a:p>
          <a:p>
            <a:pPr marL="342900" indent="-342900">
              <a:spcBef>
                <a:spcPts val="500"/>
              </a:spcBef>
              <a:buSzPct val="100000"/>
              <a:buChar char="•"/>
              <a:defRPr sz="1500"/>
            </a:pPr>
            <a:r>
              <a:t>Send a message by speaking, short phrases only</a:t>
            </a:r>
          </a:p>
        </p:txBody>
      </p:sp>
      <p:sp>
        <p:nvSpPr>
          <p:cNvPr id="165" name="GOSTAVA · WOULD LIKE card"/>
          <p:cNvSpPr/>
          <p:nvPr/>
        </p:nvSpPr>
        <p:spPr>
          <a:xfrm>
            <a:off x="4343400" y="1600200"/>
            <a:ext cx="3520441" cy="4434841"/>
          </a:xfrm>
          <a:prstGeom prst="roundRect">
            <a:avLst>
              <a:gd name="adj" fmla="val 3117"/>
            </a:avLst>
          </a:prstGeom>
          <a:solidFill>
            <a:srgbClr val="F2F0F6"/>
          </a:solidFill>
          <a:ln w="12700">
            <a:solidFill>
              <a:srgbClr val="F2F0F6"/>
            </a:solidFill>
          </a:ln>
        </p:spPr>
        <p:txBody>
          <a:bodyPr lIns="45719" rIns="45719"/>
          <a:lstStyle/>
          <a:p>
            <a:pPr/>
          </a:p>
        </p:txBody>
      </p:sp>
      <p:sp>
        <p:nvSpPr>
          <p:cNvPr id="166" name="GOSTAVA · WOULD LIKE label"/>
          <p:cNvSpPr txBox="1"/>
          <p:nvPr/>
        </p:nvSpPr>
        <p:spPr>
          <a:xfrm>
            <a:off x="4572000" y="1866708"/>
            <a:ext cx="3063240"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400">
                <a:solidFill>
                  <a:schemeClr val="accent3"/>
                </a:solidFill>
              </a:defRPr>
            </a:lvl1pPr>
          </a:lstStyle>
          <a:p>
            <a:pPr/>
            <a:r>
              <a:t>GOSTAVA · WOULD LIKE</a:t>
            </a:r>
          </a:p>
        </p:txBody>
      </p:sp>
      <p:sp>
        <p:nvSpPr>
          <p:cNvPr id="167" name="GOSTAVA · WOULD LIKE items"/>
          <p:cNvSpPr txBox="1"/>
          <p:nvPr/>
        </p:nvSpPr>
        <p:spPr>
          <a:xfrm>
            <a:off x="4572000" y="2258567"/>
            <a:ext cx="3063240" cy="152005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a:spcBef>
                <a:spcPts val="500"/>
              </a:spcBef>
              <a:buSzPct val="100000"/>
              <a:buChar char="•"/>
              <a:defRPr sz="1500"/>
            </a:pPr>
            <a:r>
              <a:t>Appointment reminders</a:t>
            </a:r>
          </a:p>
          <a:p>
            <a:pPr marL="342900" indent="-342900">
              <a:spcBef>
                <a:spcPts val="500"/>
              </a:spcBef>
              <a:buSzPct val="100000"/>
              <a:buChar char="•"/>
              <a:defRPr sz="1500"/>
            </a:pPr>
            <a:r>
              <a:t>Emergency help, only to call his daughter</a:t>
            </a:r>
          </a:p>
          <a:p>
            <a:pPr marL="342900" indent="-342900">
              <a:spcBef>
                <a:spcPts val="500"/>
              </a:spcBef>
              <a:buSzPct val="100000"/>
              <a:buChar char="•"/>
              <a:defRPr sz="1500"/>
            </a:pPr>
            <a:r>
              <a:t>Video call, only the baby, his face hidden</a:t>
            </a:r>
          </a:p>
          <a:p>
            <a:pPr marL="342900" indent="-342900">
              <a:spcBef>
                <a:spcPts val="500"/>
              </a:spcBef>
              <a:buSzPct val="100000"/>
              <a:buChar char="•"/>
              <a:defRPr sz="1500"/>
            </a:pPr>
            <a:r>
              <a:t>Time and date</a:t>
            </a:r>
          </a:p>
        </p:txBody>
      </p:sp>
      <p:sp>
        <p:nvSpPr>
          <p:cNvPr id="168" name="NÃO PRECISO · DON’T NEED card"/>
          <p:cNvSpPr/>
          <p:nvPr/>
        </p:nvSpPr>
        <p:spPr>
          <a:xfrm>
            <a:off x="8138159" y="1600200"/>
            <a:ext cx="3520441" cy="4434841"/>
          </a:xfrm>
          <a:prstGeom prst="roundRect">
            <a:avLst>
              <a:gd name="adj" fmla="val 3117"/>
            </a:avLst>
          </a:prstGeom>
          <a:solidFill>
            <a:srgbClr val="F2F0F6"/>
          </a:solidFill>
          <a:ln w="12700">
            <a:solidFill>
              <a:srgbClr val="F2F0F6"/>
            </a:solidFill>
          </a:ln>
        </p:spPr>
        <p:txBody>
          <a:bodyPr lIns="45719" rIns="45719"/>
          <a:lstStyle/>
          <a:p>
            <a:pPr/>
          </a:p>
        </p:txBody>
      </p:sp>
      <p:sp>
        <p:nvSpPr>
          <p:cNvPr id="169" name="NÃO PRECISO · DON’T NEED label"/>
          <p:cNvSpPr txBox="1"/>
          <p:nvPr/>
        </p:nvSpPr>
        <p:spPr>
          <a:xfrm>
            <a:off x="8366759" y="1866708"/>
            <a:ext cx="306324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400">
                <a:solidFill>
                  <a:schemeClr val="accent5"/>
                </a:solidFill>
              </a:defRPr>
            </a:lvl1pPr>
          </a:lstStyle>
          <a:p>
            <a:pPr/>
            <a:r>
              <a:t>NÃO PRECISO · DON’T NEED</a:t>
            </a:r>
          </a:p>
        </p:txBody>
      </p:sp>
      <p:sp>
        <p:nvSpPr>
          <p:cNvPr id="170" name="NÃO PRECISO · DON’T NEED items"/>
          <p:cNvSpPr txBox="1"/>
          <p:nvPr/>
        </p:nvSpPr>
        <p:spPr>
          <a:xfrm>
            <a:off x="8366759" y="2258567"/>
            <a:ext cx="3063241" cy="187565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a:spcBef>
                <a:spcPts val="500"/>
              </a:spcBef>
              <a:buSzPct val="100000"/>
              <a:buChar char="•"/>
              <a:defRPr sz="1500"/>
            </a:pPr>
            <a:r>
              <a:t>Medication reminders</a:t>
            </a:r>
          </a:p>
          <a:p>
            <a:pPr marL="342900" indent="-342900">
              <a:spcBef>
                <a:spcPts val="500"/>
              </a:spcBef>
              <a:buSzPct val="100000"/>
              <a:buChar char="•"/>
              <a:defRPr sz="1500"/>
            </a:pPr>
            <a:r>
              <a:t>Torch</a:t>
            </a:r>
          </a:p>
          <a:p>
            <a:pPr marL="342900" indent="-342900">
              <a:spcBef>
                <a:spcPts val="500"/>
              </a:spcBef>
              <a:buSzPct val="100000"/>
              <a:buChar char="•"/>
              <a:defRPr sz="1500"/>
            </a:pPr>
            <a:r>
              <a:t>Radio: his late wife’s station stays in the kitchen</a:t>
            </a:r>
          </a:p>
          <a:p>
            <a:pPr marL="342900" indent="-342900">
              <a:spcBef>
                <a:spcPts val="500"/>
              </a:spcBef>
              <a:buSzPct val="100000"/>
              <a:buChar char="•"/>
              <a:defRPr sz="1500"/>
            </a:pPr>
            <a:r>
              <a:t>Take photos</a:t>
            </a:r>
          </a:p>
          <a:p>
            <a:pPr marL="342900" indent="-342900">
              <a:spcBef>
                <a:spcPts val="500"/>
              </a:spcBef>
              <a:buSzPct val="100000"/>
              <a:buChar char="•"/>
              <a:defRPr sz="1500"/>
            </a:pPr>
            <a:r>
              <a:t>Weather</a:t>
            </a:r>
          </a:p>
          <a:p>
            <a:pPr marL="342900" indent="-342900">
              <a:spcBef>
                <a:spcPts val="500"/>
              </a:spcBef>
              <a:buSzPct val="100000"/>
              <a:buChar char="•"/>
              <a:defRPr sz="1500"/>
            </a:pPr>
            <a:r>
              <a:t>Magnifier</a:t>
            </a:r>
          </a:p>
        </p:txBody>
      </p:sp>
      <p:sp>
        <p:nvSpPr>
          <p:cNvPr id="171" name="Own cards note"/>
          <p:cNvSpPr txBox="1"/>
          <p:nvPr/>
        </p:nvSpPr>
        <p:spPr>
          <a:xfrm>
            <a:off x="777240" y="5682287"/>
            <a:ext cx="3063240"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200">
                <a:solidFill>
                  <a:schemeClr val="accent3"/>
                </a:solidFill>
              </a:defRPr>
            </a:lvl1pPr>
          </a:lstStyle>
          <a:p>
            <a:pPr/>
            <a:r>
              <a:t>* cards he wrote himself</a:t>
            </a:r>
          </a:p>
        </p:txBody>
      </p:sp>
      <p:sp>
        <p:nvSpPr>
          <p:cNvPr id="172" name="Slide Number Placeholder 0"/>
          <p:cNvSpPr txBox="1"/>
          <p:nvPr>
            <p:ph type="sldNum" sz="quarter" idx="4294967295"/>
          </p:nvPr>
        </p:nvSpPr>
        <p:spPr>
          <a:xfrm>
            <a:off x="11437935" y="6355079"/>
            <a:ext cx="174946" cy="22570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6" name="Text 0"/>
          <p:cNvSpPr txBox="1"/>
          <p:nvPr>
            <p:ph type="title"/>
          </p:nvPr>
        </p:nvSpPr>
        <p:spPr>
          <a:xfrm>
            <a:off x="548639" y="365759"/>
            <a:ext cx="11064242" cy="731521"/>
          </a:xfrm>
          <a:prstGeom prst="rect">
            <a:avLst/>
          </a:prstGeom>
        </p:spPr>
        <p:txBody>
          <a:bodyPr lIns="0" tIns="0" rIns="0" bIns="0" anchor="ctr"/>
          <a:lstStyle/>
          <a:p>
            <a:pPr/>
            <a:r>
              <a:t>Session 2 · How it should talk</a:t>
            </a:r>
          </a:p>
        </p:txBody>
      </p:sp>
      <p:sp>
        <p:nvSpPr>
          <p:cNvPr id="177" name="Voice meta"/>
          <p:cNvSpPr txBox="1"/>
          <p:nvPr/>
        </p:nvSpPr>
        <p:spPr>
          <a:xfrm>
            <a:off x="548639" y="1164021"/>
            <a:ext cx="11064242" cy="186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chemeClr val="accent5"/>
                </a:solidFill>
              </a:defRPr>
            </a:lvl1pPr>
          </a:lstStyle>
          <a:p>
            <a:pPr/>
            <a:r>
              <a:t>João voiced the phone while Manuel pressed a cardboard button; then Manuel told the story we drew</a:t>
            </a:r>
          </a:p>
        </p:txBody>
      </p:sp>
      <p:sp>
        <p:nvSpPr>
          <p:cNvPr id="178" name="Rules label"/>
          <p:cNvSpPr txBox="1"/>
          <p:nvPr/>
        </p:nvSpPr>
        <p:spPr>
          <a:xfrm>
            <a:off x="548640" y="1707976"/>
            <a:ext cx="5669280"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lvl1pPr>
          </a:lstStyle>
          <a:p>
            <a:pPr/>
            <a:r>
              <a:t>Rules from the role-play</a:t>
            </a:r>
          </a:p>
        </p:txBody>
      </p:sp>
      <p:sp>
        <p:nvSpPr>
          <p:cNvPr id="179" name="Rules"/>
          <p:cNvSpPr txBox="1"/>
          <p:nvPr/>
        </p:nvSpPr>
        <p:spPr>
          <a:xfrm>
            <a:off x="548640" y="2103120"/>
            <a:ext cx="5669280" cy="21776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a:spcBef>
                <a:spcPts val="700"/>
              </a:spcBef>
              <a:buSzPct val="100000"/>
              <a:buChar char="•"/>
              <a:defRPr sz="1600"/>
            </a:pPr>
            <a:r>
              <a:t>No greeting: he knows he pressed the button</a:t>
            </a:r>
          </a:p>
          <a:p>
            <a:pPr marL="342900" indent="-342900">
              <a:spcBef>
                <a:spcPts val="700"/>
              </a:spcBef>
              <a:buSzPct val="100000"/>
              <a:buChar char="•"/>
              <a:defRPr sz="1600"/>
            </a:pPr>
            <a:r>
              <a:t>The sender’s name first, then one sentence, then silence while he looks</a:t>
            </a:r>
          </a:p>
          <a:p>
            <a:pPr marL="342900" indent="-342900">
              <a:spcBef>
                <a:spcPts val="700"/>
              </a:spcBef>
              <a:buSzPct val="100000"/>
              <a:buChar char="•"/>
              <a:defRPr sz="1600"/>
            </a:pPr>
            <a:r>
              <a:t>Unknown sender: no photo, no link, offer to call his daughter</a:t>
            </a:r>
          </a:p>
          <a:p>
            <a:pPr marL="342900" indent="-342900">
              <a:spcBef>
                <a:spcPts val="700"/>
              </a:spcBef>
              <a:buSzPct val="100000"/>
              <a:buChar char="•"/>
              <a:defRPr sz="1600"/>
            </a:pPr>
            <a:r>
              <a:t>One voice message at a time</a:t>
            </a:r>
          </a:p>
          <a:p>
            <a:pPr marL="342900" indent="-342900">
              <a:spcBef>
                <a:spcPts val="700"/>
              </a:spcBef>
              <a:buSzPct val="100000"/>
              <a:buChar char="•"/>
              <a:defRPr sz="1600"/>
            </a:pPr>
            <a:r>
              <a:t>His reply is repeated back before it is sent</a:t>
            </a:r>
          </a:p>
          <a:p>
            <a:pPr marL="342900" indent="-342900">
              <a:spcBef>
                <a:spcPts val="700"/>
              </a:spcBef>
              <a:buSzPct val="100000"/>
              <a:buChar char="•"/>
              <a:defRPr sz="1600"/>
            </a:pPr>
            <a:r>
              <a:t>After two misunderstandings, it does nothing</a:t>
            </a:r>
          </a:p>
        </p:txBody>
      </p:sp>
      <p:sp>
        <p:nvSpPr>
          <p:cNvPr id="180" name="Storyboard label"/>
          <p:cNvSpPr txBox="1"/>
          <p:nvPr/>
        </p:nvSpPr>
        <p:spPr>
          <a:xfrm>
            <a:off x="6583680" y="1707976"/>
            <a:ext cx="5029201"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lvl1pPr>
          </a:lstStyle>
          <a:p>
            <a:pPr/>
            <a:r>
              <a:t>His storyboard</a:t>
            </a:r>
          </a:p>
        </p:txBody>
      </p:sp>
      <p:sp>
        <p:nvSpPr>
          <p:cNvPr id="181" name="Panel 1"/>
          <p:cNvSpPr/>
          <p:nvPr/>
        </p:nvSpPr>
        <p:spPr>
          <a:xfrm>
            <a:off x="6583680" y="2103120"/>
            <a:ext cx="2423161" cy="1463041"/>
          </a:xfrm>
          <a:prstGeom prst="roundRect">
            <a:avLst>
              <a:gd name="adj" fmla="val 7500"/>
            </a:avLst>
          </a:prstGeom>
          <a:solidFill>
            <a:srgbClr val="F2F0F6"/>
          </a:solidFill>
          <a:ln w="12700">
            <a:solidFill>
              <a:srgbClr val="F2F0F6"/>
            </a:solidFill>
          </a:ln>
        </p:spPr>
        <p:txBody>
          <a:bodyPr lIns="45719" rIns="45719"/>
          <a:lstStyle/>
          <a:p>
            <a:pPr/>
          </a:p>
        </p:txBody>
      </p:sp>
      <p:sp>
        <p:nvSpPr>
          <p:cNvPr id="182" name="Panel 1 circle"/>
          <p:cNvSpPr/>
          <p:nvPr/>
        </p:nvSpPr>
        <p:spPr>
          <a:xfrm>
            <a:off x="6720840" y="2240279"/>
            <a:ext cx="365761" cy="365761"/>
          </a:xfrm>
          <a:prstGeom prst="ellipse">
            <a:avLst/>
          </a:prstGeom>
          <a:solidFill>
            <a:schemeClr val="accent1"/>
          </a:solidFill>
          <a:ln w="12700">
            <a:solidFill>
              <a:schemeClr val="accent1"/>
            </a:solidFill>
          </a:ln>
        </p:spPr>
        <p:txBody>
          <a:bodyPr lIns="45719" rIns="45719"/>
          <a:lstStyle/>
          <a:p>
            <a:pPr/>
          </a:p>
        </p:txBody>
      </p:sp>
      <p:sp>
        <p:nvSpPr>
          <p:cNvPr id="183" name="Panel 1 number"/>
          <p:cNvSpPr txBox="1"/>
          <p:nvPr/>
        </p:nvSpPr>
        <p:spPr>
          <a:xfrm>
            <a:off x="6720840" y="2328480"/>
            <a:ext cx="36576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FFFFFF"/>
                </a:solidFill>
              </a:defRPr>
            </a:lvl1pPr>
          </a:lstStyle>
          <a:p>
            <a:pPr/>
            <a:r>
              <a:t>1</a:t>
            </a:r>
          </a:p>
        </p:txBody>
      </p:sp>
      <p:sp>
        <p:nvSpPr>
          <p:cNvPr id="184" name="Panel 1 text"/>
          <p:cNvSpPr txBox="1"/>
          <p:nvPr/>
        </p:nvSpPr>
        <p:spPr>
          <a:xfrm>
            <a:off x="6720840" y="2697479"/>
            <a:ext cx="2148841" cy="6465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lvl1pPr>
          </a:lstStyle>
          <a:p>
            <a:pPr/>
            <a:r>
              <a:t>His granddaughter sends today’s photo; the phone says her name</a:t>
            </a:r>
          </a:p>
        </p:txBody>
      </p:sp>
      <p:sp>
        <p:nvSpPr>
          <p:cNvPr id="185" name="Panel 2"/>
          <p:cNvSpPr/>
          <p:nvPr/>
        </p:nvSpPr>
        <p:spPr>
          <a:xfrm>
            <a:off x="9144000" y="2103120"/>
            <a:ext cx="2423161" cy="1463041"/>
          </a:xfrm>
          <a:prstGeom prst="roundRect">
            <a:avLst>
              <a:gd name="adj" fmla="val 7500"/>
            </a:avLst>
          </a:prstGeom>
          <a:solidFill>
            <a:srgbClr val="F2F0F6"/>
          </a:solidFill>
          <a:ln w="12700">
            <a:solidFill>
              <a:srgbClr val="F2F0F6"/>
            </a:solidFill>
          </a:ln>
        </p:spPr>
        <p:txBody>
          <a:bodyPr lIns="45719" rIns="45719"/>
          <a:lstStyle/>
          <a:p>
            <a:pPr/>
          </a:p>
        </p:txBody>
      </p:sp>
      <p:sp>
        <p:nvSpPr>
          <p:cNvPr id="186" name="Panel 2 circle"/>
          <p:cNvSpPr/>
          <p:nvPr/>
        </p:nvSpPr>
        <p:spPr>
          <a:xfrm>
            <a:off x="9281159" y="2240279"/>
            <a:ext cx="365761" cy="365761"/>
          </a:xfrm>
          <a:prstGeom prst="ellipse">
            <a:avLst/>
          </a:prstGeom>
          <a:solidFill>
            <a:schemeClr val="accent1"/>
          </a:solidFill>
          <a:ln w="12700">
            <a:solidFill>
              <a:schemeClr val="accent1"/>
            </a:solidFill>
          </a:ln>
        </p:spPr>
        <p:txBody>
          <a:bodyPr lIns="45719" rIns="45719"/>
          <a:lstStyle/>
          <a:p>
            <a:pPr/>
          </a:p>
        </p:txBody>
      </p:sp>
      <p:sp>
        <p:nvSpPr>
          <p:cNvPr id="187" name="Panel 2 number"/>
          <p:cNvSpPr txBox="1"/>
          <p:nvPr/>
        </p:nvSpPr>
        <p:spPr>
          <a:xfrm>
            <a:off x="9281159" y="2328480"/>
            <a:ext cx="36576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FFFFFF"/>
                </a:solidFill>
              </a:defRPr>
            </a:lvl1pPr>
          </a:lstStyle>
          <a:p>
            <a:pPr/>
            <a:r>
              <a:t>2</a:t>
            </a:r>
          </a:p>
        </p:txBody>
      </p:sp>
      <p:sp>
        <p:nvSpPr>
          <p:cNvPr id="188" name="Panel 2 text"/>
          <p:cNvSpPr txBox="1"/>
          <p:nvPr/>
        </p:nvSpPr>
        <p:spPr>
          <a:xfrm>
            <a:off x="9281159" y="2697479"/>
            <a:ext cx="2148841" cy="4179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lvl1pPr>
          </a:lstStyle>
          <a:p>
            <a:pPr/>
            <a:r>
              <a:t>He presses green: “Quero ver.”</a:t>
            </a:r>
          </a:p>
        </p:txBody>
      </p:sp>
      <p:sp>
        <p:nvSpPr>
          <p:cNvPr id="189" name="Panel 3"/>
          <p:cNvSpPr/>
          <p:nvPr/>
        </p:nvSpPr>
        <p:spPr>
          <a:xfrm>
            <a:off x="6583680" y="3703320"/>
            <a:ext cx="2423161" cy="1463041"/>
          </a:xfrm>
          <a:prstGeom prst="roundRect">
            <a:avLst>
              <a:gd name="adj" fmla="val 7500"/>
            </a:avLst>
          </a:prstGeom>
          <a:solidFill>
            <a:srgbClr val="F2F0F6"/>
          </a:solidFill>
          <a:ln w="12700">
            <a:solidFill>
              <a:srgbClr val="F2F0F6"/>
            </a:solidFill>
          </a:ln>
        </p:spPr>
        <p:txBody>
          <a:bodyPr lIns="45719" rIns="45719"/>
          <a:lstStyle/>
          <a:p>
            <a:pPr/>
          </a:p>
        </p:txBody>
      </p:sp>
      <p:sp>
        <p:nvSpPr>
          <p:cNvPr id="190" name="Panel 3 circle"/>
          <p:cNvSpPr/>
          <p:nvPr/>
        </p:nvSpPr>
        <p:spPr>
          <a:xfrm>
            <a:off x="6720840" y="3840479"/>
            <a:ext cx="365761" cy="365761"/>
          </a:xfrm>
          <a:prstGeom prst="ellipse">
            <a:avLst/>
          </a:prstGeom>
          <a:solidFill>
            <a:schemeClr val="accent1"/>
          </a:solidFill>
          <a:ln w="12700">
            <a:solidFill>
              <a:schemeClr val="accent1"/>
            </a:solidFill>
          </a:ln>
        </p:spPr>
        <p:txBody>
          <a:bodyPr lIns="45719" rIns="45719"/>
          <a:lstStyle/>
          <a:p>
            <a:pPr/>
          </a:p>
        </p:txBody>
      </p:sp>
      <p:sp>
        <p:nvSpPr>
          <p:cNvPr id="191" name="Panel 3 number"/>
          <p:cNvSpPr txBox="1"/>
          <p:nvPr/>
        </p:nvSpPr>
        <p:spPr>
          <a:xfrm>
            <a:off x="6720840" y="3928680"/>
            <a:ext cx="36576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FFFFFF"/>
                </a:solidFill>
              </a:defRPr>
            </a:lvl1pPr>
          </a:lstStyle>
          <a:p>
            <a:pPr/>
            <a:r>
              <a:t>3</a:t>
            </a:r>
          </a:p>
        </p:txBody>
      </p:sp>
      <p:sp>
        <p:nvSpPr>
          <p:cNvPr id="192" name="Panel 3 text"/>
          <p:cNvSpPr txBox="1"/>
          <p:nvPr/>
        </p:nvSpPr>
        <p:spPr>
          <a:xfrm>
            <a:off x="6720840" y="4297679"/>
            <a:ext cx="2148841" cy="6465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lvl1pPr>
          </a:lstStyle>
          <a:p>
            <a:pPr/>
            <a:r>
              <a:t>The name again, one sentence, and the photo stays</a:t>
            </a:r>
          </a:p>
        </p:txBody>
      </p:sp>
      <p:sp>
        <p:nvSpPr>
          <p:cNvPr id="193" name="Panel 4"/>
          <p:cNvSpPr/>
          <p:nvPr/>
        </p:nvSpPr>
        <p:spPr>
          <a:xfrm>
            <a:off x="9144000" y="3703320"/>
            <a:ext cx="2423161" cy="1463041"/>
          </a:xfrm>
          <a:prstGeom prst="roundRect">
            <a:avLst>
              <a:gd name="adj" fmla="val 7500"/>
            </a:avLst>
          </a:prstGeom>
          <a:solidFill>
            <a:srgbClr val="F2F0F6"/>
          </a:solidFill>
          <a:ln w="12700">
            <a:solidFill>
              <a:srgbClr val="F2F0F6"/>
            </a:solidFill>
          </a:ln>
        </p:spPr>
        <p:txBody>
          <a:bodyPr lIns="45719" rIns="45719"/>
          <a:lstStyle/>
          <a:p>
            <a:pPr/>
          </a:p>
        </p:txBody>
      </p:sp>
      <p:sp>
        <p:nvSpPr>
          <p:cNvPr id="194" name="Panel 4 circle"/>
          <p:cNvSpPr/>
          <p:nvPr/>
        </p:nvSpPr>
        <p:spPr>
          <a:xfrm>
            <a:off x="9281159" y="3840479"/>
            <a:ext cx="365761" cy="365761"/>
          </a:xfrm>
          <a:prstGeom prst="ellipse">
            <a:avLst/>
          </a:prstGeom>
          <a:solidFill>
            <a:schemeClr val="accent1"/>
          </a:solidFill>
          <a:ln w="12700">
            <a:solidFill>
              <a:schemeClr val="accent1"/>
            </a:solidFill>
          </a:ln>
        </p:spPr>
        <p:txBody>
          <a:bodyPr lIns="45719" rIns="45719"/>
          <a:lstStyle/>
          <a:p>
            <a:pPr/>
          </a:p>
        </p:txBody>
      </p:sp>
      <p:sp>
        <p:nvSpPr>
          <p:cNvPr id="195" name="Panel 4 number"/>
          <p:cNvSpPr txBox="1"/>
          <p:nvPr/>
        </p:nvSpPr>
        <p:spPr>
          <a:xfrm>
            <a:off x="9281159" y="3928680"/>
            <a:ext cx="36576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FFFFFF"/>
                </a:solidFill>
              </a:defRPr>
            </a:lvl1pPr>
          </a:lstStyle>
          <a:p>
            <a:pPr/>
            <a:r>
              <a:t>4</a:t>
            </a:r>
          </a:p>
        </p:txBody>
      </p:sp>
      <p:sp>
        <p:nvSpPr>
          <p:cNvPr id="196" name="Panel 4 text"/>
          <p:cNvSpPr txBox="1"/>
          <p:nvPr/>
        </p:nvSpPr>
        <p:spPr>
          <a:xfrm>
            <a:off x="9281159" y="4297679"/>
            <a:ext cx="2148841" cy="4179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lvl1pPr>
          </a:lstStyle>
          <a:p>
            <a:pPr/>
            <a:r>
              <a:t>“Diz-lhe: ele é lindo.” It repeats; he says “É.”</a:t>
            </a:r>
          </a:p>
        </p:txBody>
      </p:sp>
      <p:sp>
        <p:nvSpPr>
          <p:cNvPr id="197" name="Voice quote"/>
          <p:cNvSpPr txBox="1"/>
          <p:nvPr/>
        </p:nvSpPr>
        <p:spPr>
          <a:xfrm>
            <a:off x="548639" y="5706109"/>
            <a:ext cx="11064242"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000">
                <a:solidFill>
                  <a:schemeClr val="accent3"/>
                </a:solidFill>
                <a:latin typeface="Cambria"/>
                <a:ea typeface="Cambria"/>
                <a:cs typeface="Cambria"/>
                <a:sym typeface="Cambria"/>
              </a:defRPr>
            </a:lvl1pPr>
          </a:lstStyle>
          <a:p>
            <a:pPr/>
            <a:r>
              <a:t>“Rude and safe. I prefer that to cheerful and wrong.”</a:t>
            </a:r>
          </a:p>
        </p:txBody>
      </p:sp>
      <p:sp>
        <p:nvSpPr>
          <p:cNvPr id="198" name="Slide Number Placeholder 0"/>
          <p:cNvSpPr txBox="1"/>
          <p:nvPr>
            <p:ph type="sldNum" sz="quarter" idx="4294967295"/>
          </p:nvPr>
        </p:nvSpPr>
        <p:spPr>
          <a:xfrm>
            <a:off x="11437935" y="6355079"/>
            <a:ext cx="174946" cy="22570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2" name="Text 0"/>
          <p:cNvSpPr txBox="1"/>
          <p:nvPr>
            <p:ph type="title"/>
          </p:nvPr>
        </p:nvSpPr>
        <p:spPr>
          <a:xfrm>
            <a:off x="548639" y="365759"/>
            <a:ext cx="11064242" cy="731521"/>
          </a:xfrm>
          <a:prstGeom prst="rect">
            <a:avLst/>
          </a:prstGeom>
        </p:spPr>
        <p:txBody>
          <a:bodyPr lIns="0" tIns="0" rIns="0" bIns="0" anchor="ctr"/>
          <a:lstStyle/>
          <a:p>
            <a:pPr/>
            <a:r>
              <a:t>Lessons and next steps</a:t>
            </a:r>
          </a:p>
        </p:txBody>
      </p:sp>
      <p:sp>
        <p:nvSpPr>
          <p:cNvPr id="203" name="Lessons label"/>
          <p:cNvSpPr txBox="1"/>
          <p:nvPr/>
        </p:nvSpPr>
        <p:spPr>
          <a:xfrm>
            <a:off x="548640" y="1498689"/>
            <a:ext cx="5486401" cy="24874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chemeClr val="accent4"/>
                </a:solidFill>
              </a:defRPr>
            </a:lvl1pPr>
          </a:lstStyle>
          <a:p>
            <a:pPr/>
            <a:r>
              <a:t>Lessons so far</a:t>
            </a:r>
          </a:p>
        </p:txBody>
      </p:sp>
      <p:sp>
        <p:nvSpPr>
          <p:cNvPr id="204" name="Lessons"/>
          <p:cNvSpPr txBox="1"/>
          <p:nvPr/>
        </p:nvSpPr>
        <p:spPr>
          <a:xfrm>
            <a:off x="548640" y="1920239"/>
            <a:ext cx="5486401" cy="16640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a:spcBef>
                <a:spcPts val="1000"/>
              </a:spcBef>
              <a:buSzPct val="100000"/>
              <a:buChar char="•"/>
              <a:defRPr>
                <a:solidFill>
                  <a:srgbClr val="FFFFFF"/>
                </a:solidFill>
              </a:defRPr>
            </a:pPr>
            <a:r>
              <a:t>Letting him host a game of bisca first put him in charge</a:t>
            </a:r>
          </a:p>
          <a:p>
            <a:pPr marL="342900" indent="-342900">
              <a:spcBef>
                <a:spcPts val="1000"/>
              </a:spcBef>
              <a:buSzPct val="100000"/>
              <a:buChar char="•"/>
              <a:defRPr>
                <a:solidFill>
                  <a:srgbClr val="FFFFFF"/>
                </a:solidFill>
              </a:defRPr>
            </a:pPr>
            <a:r>
              <a:t>He needed things to refuse: decoy cards and blank cards made his choices clear</a:t>
            </a:r>
          </a:p>
          <a:p>
            <a:pPr marL="342900" indent="-342900">
              <a:spcBef>
                <a:spcPts val="1000"/>
              </a:spcBef>
              <a:buSzPct val="100000"/>
              <a:buChar char="•"/>
              <a:defRPr>
                <a:solidFill>
                  <a:srgbClr val="FFFFFF"/>
                </a:solidFill>
              </a:defRPr>
            </a:pPr>
            <a:r>
              <a:t>We were wrong about one button: he needs red to end, or calls aren’t safe</a:t>
            </a:r>
          </a:p>
        </p:txBody>
      </p:sp>
      <p:sp>
        <p:nvSpPr>
          <p:cNvPr id="205" name="What he wants"/>
          <p:cNvSpPr txBox="1"/>
          <p:nvPr/>
        </p:nvSpPr>
        <p:spPr>
          <a:xfrm>
            <a:off x="548640" y="4069079"/>
            <a:ext cx="5486401" cy="4631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chemeClr val="accent4"/>
                </a:solidFill>
              </a:defRPr>
            </a:pPr>
            <a:r>
              <a:t>What he wants: </a:t>
            </a:r>
            <a:r>
              <a:rPr b="0">
                <a:solidFill>
                  <a:srgbClr val="FFFFFF"/>
                </a:solidFill>
              </a:rPr>
              <a:t>not a simpler phone, but his smartphone’s family features in a form he can use.</a:t>
            </a:r>
          </a:p>
        </p:txBody>
      </p:sp>
      <p:sp>
        <p:nvSpPr>
          <p:cNvPr id="206" name="Condition"/>
          <p:cNvSpPr txBox="1"/>
          <p:nvPr/>
        </p:nvSpPr>
        <p:spPr>
          <a:xfrm>
            <a:off x="548640" y="4846320"/>
            <a:ext cx="5486401" cy="4631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chemeClr val="accent4"/>
                </a:solidFill>
              </a:defRPr>
            </a:pPr>
            <a:r>
              <a:t>His condition: </a:t>
            </a:r>
            <a:r>
              <a:rPr b="0">
                <a:solidFill>
                  <a:srgbClr val="FFFFFF"/>
                </a:solidFill>
              </a:rPr>
              <a:t>the Nokia stays until calling his daughter on the new phone is as easy as its green button.</a:t>
            </a:r>
          </a:p>
        </p:txBody>
      </p:sp>
      <p:sp>
        <p:nvSpPr>
          <p:cNvPr id="207" name="Timeline line"/>
          <p:cNvSpPr/>
          <p:nvPr/>
        </p:nvSpPr>
        <p:spPr>
          <a:xfrm>
            <a:off x="7086600" y="1691639"/>
            <a:ext cx="0" cy="3291841"/>
          </a:xfrm>
          <a:prstGeom prst="line">
            <a:avLst/>
          </a:prstGeom>
          <a:ln w="25400">
            <a:solidFill>
              <a:schemeClr val="accent5"/>
            </a:solidFill>
          </a:ln>
        </p:spPr>
        <p:txBody>
          <a:bodyPr lIns="45719" rIns="45719"/>
          <a:lstStyle/>
          <a:p>
            <a:pPr/>
          </a:p>
        </p:txBody>
      </p:sp>
      <p:sp>
        <p:nvSpPr>
          <p:cNvPr id="208" name="Sessions 1 and 2 marker"/>
          <p:cNvSpPr/>
          <p:nvPr/>
        </p:nvSpPr>
        <p:spPr>
          <a:xfrm>
            <a:off x="6903719" y="1508760"/>
            <a:ext cx="365761" cy="365761"/>
          </a:xfrm>
          <a:prstGeom prst="ellipse">
            <a:avLst/>
          </a:prstGeom>
          <a:solidFill>
            <a:schemeClr val="accent1"/>
          </a:solidFill>
          <a:ln w="25400">
            <a:solidFill>
              <a:schemeClr val="accent1"/>
            </a:solidFill>
          </a:ln>
        </p:spPr>
        <p:txBody>
          <a:bodyPr lIns="45719" rIns="45719"/>
          <a:lstStyle/>
          <a:p>
            <a:pPr/>
          </a:p>
        </p:txBody>
      </p:sp>
      <p:sp>
        <p:nvSpPr>
          <p:cNvPr id="209" name="Sessions 1 and 2 name"/>
          <p:cNvSpPr txBox="1"/>
          <p:nvPr/>
        </p:nvSpPr>
        <p:spPr>
          <a:xfrm>
            <a:off x="7543800" y="1497664"/>
            <a:ext cx="4069080"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rgbClr val="FFFFFF"/>
                </a:solidFill>
              </a:defRPr>
            </a:lvl1pPr>
          </a:lstStyle>
          <a:p>
            <a:pPr/>
            <a:r>
              <a:t>Sessions 1 and 2</a:t>
            </a:r>
          </a:p>
        </p:txBody>
      </p:sp>
      <p:sp>
        <p:nvSpPr>
          <p:cNvPr id="210" name="Sessions 1 and 2 when"/>
          <p:cNvSpPr txBox="1"/>
          <p:nvPr/>
        </p:nvSpPr>
        <p:spPr>
          <a:xfrm>
            <a:off x="7543800" y="1898712"/>
            <a:ext cx="4069080"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chemeClr val="accent6"/>
                </a:solidFill>
              </a:defRPr>
            </a:lvl1pPr>
          </a:lstStyle>
          <a:p>
            <a:pPr/>
            <a:r>
              <a:t>Done · problem signed, concept chosen</a:t>
            </a:r>
          </a:p>
        </p:txBody>
      </p:sp>
      <p:sp>
        <p:nvSpPr>
          <p:cNvPr id="211" name="Prototype marker"/>
          <p:cNvSpPr/>
          <p:nvPr/>
        </p:nvSpPr>
        <p:spPr>
          <a:xfrm>
            <a:off x="6903719" y="2606039"/>
            <a:ext cx="365761" cy="365761"/>
          </a:xfrm>
          <a:prstGeom prst="ellipse">
            <a:avLst/>
          </a:prstGeom>
          <a:solidFill>
            <a:srgbClr val="2B2440"/>
          </a:solidFill>
          <a:ln w="25400">
            <a:solidFill>
              <a:schemeClr val="accent1"/>
            </a:solidFill>
          </a:ln>
        </p:spPr>
        <p:txBody>
          <a:bodyPr lIns="45719" rIns="45719"/>
          <a:lstStyle/>
          <a:p>
            <a:pPr/>
          </a:p>
        </p:txBody>
      </p:sp>
      <p:sp>
        <p:nvSpPr>
          <p:cNvPr id="212" name="Prototype name"/>
          <p:cNvSpPr txBox="1"/>
          <p:nvPr/>
        </p:nvSpPr>
        <p:spPr>
          <a:xfrm>
            <a:off x="7543800" y="2594944"/>
            <a:ext cx="4069080"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rgbClr val="FFFFFF"/>
                </a:solidFill>
              </a:defRPr>
            </a:lvl1pPr>
          </a:lstStyle>
          <a:p>
            <a:pPr/>
            <a:r>
              <a:t>Prototype</a:t>
            </a:r>
          </a:p>
        </p:txBody>
      </p:sp>
      <p:sp>
        <p:nvSpPr>
          <p:cNvPr id="213" name="Prototype when"/>
          <p:cNvSpPr txBox="1"/>
          <p:nvPr/>
        </p:nvSpPr>
        <p:spPr>
          <a:xfrm>
            <a:off x="7543800" y="2995992"/>
            <a:ext cx="4069080"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chemeClr val="accent6"/>
                </a:solidFill>
              </a:defRPr>
            </a:lvl1pPr>
          </a:lstStyle>
          <a:p>
            <a:pPr/>
            <a:r>
              <a:t>12–15 Oct · cover, buttons and voice</a:t>
            </a:r>
          </a:p>
        </p:txBody>
      </p:sp>
      <p:sp>
        <p:nvSpPr>
          <p:cNvPr id="214" name="Session 3 marker"/>
          <p:cNvSpPr/>
          <p:nvPr/>
        </p:nvSpPr>
        <p:spPr>
          <a:xfrm>
            <a:off x="6903719" y="3703320"/>
            <a:ext cx="365761" cy="365761"/>
          </a:xfrm>
          <a:prstGeom prst="ellipse">
            <a:avLst/>
          </a:prstGeom>
          <a:solidFill>
            <a:srgbClr val="2B2440"/>
          </a:solidFill>
          <a:ln w="25400">
            <a:solidFill>
              <a:schemeClr val="accent1"/>
            </a:solidFill>
          </a:ln>
        </p:spPr>
        <p:txBody>
          <a:bodyPr lIns="45719" rIns="45719"/>
          <a:lstStyle/>
          <a:p>
            <a:pPr/>
          </a:p>
        </p:txBody>
      </p:sp>
      <p:sp>
        <p:nvSpPr>
          <p:cNvPr id="215" name="Session 3 name"/>
          <p:cNvSpPr txBox="1"/>
          <p:nvPr/>
        </p:nvSpPr>
        <p:spPr>
          <a:xfrm>
            <a:off x="7543800" y="3692224"/>
            <a:ext cx="4069080"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rgbClr val="FFFFFF"/>
                </a:solidFill>
              </a:defRPr>
            </a:lvl1pPr>
          </a:lstStyle>
          <a:p>
            <a:pPr/>
            <a:r>
              <a:t>Session 3</a:t>
            </a:r>
          </a:p>
        </p:txBody>
      </p:sp>
      <p:sp>
        <p:nvSpPr>
          <p:cNvPr id="216" name="Session 3 when"/>
          <p:cNvSpPr txBox="1"/>
          <p:nvPr/>
        </p:nvSpPr>
        <p:spPr>
          <a:xfrm>
            <a:off x="7543800" y="4093272"/>
            <a:ext cx="4069080"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chemeClr val="accent6"/>
                </a:solidFill>
              </a:defRPr>
            </a:lvl1pPr>
          </a:lstStyle>
          <a:p>
            <a:pPr/>
            <a:r>
              <a:t>By 16 Oct · test his storyboard at home</a:t>
            </a:r>
          </a:p>
        </p:txBody>
      </p:sp>
      <p:sp>
        <p:nvSpPr>
          <p:cNvPr id="217" name="Final presentation marker"/>
          <p:cNvSpPr/>
          <p:nvPr/>
        </p:nvSpPr>
        <p:spPr>
          <a:xfrm>
            <a:off x="6903719" y="4800600"/>
            <a:ext cx="365761" cy="365761"/>
          </a:xfrm>
          <a:prstGeom prst="ellipse">
            <a:avLst/>
          </a:prstGeom>
          <a:solidFill>
            <a:srgbClr val="2B2440"/>
          </a:solidFill>
          <a:ln w="25400">
            <a:solidFill>
              <a:schemeClr val="accent1"/>
            </a:solidFill>
          </a:ln>
        </p:spPr>
        <p:txBody>
          <a:bodyPr lIns="45719" rIns="45719"/>
          <a:lstStyle/>
          <a:p>
            <a:pPr/>
          </a:p>
        </p:txBody>
      </p:sp>
      <p:sp>
        <p:nvSpPr>
          <p:cNvPr id="218" name="Final presentation name"/>
          <p:cNvSpPr txBox="1"/>
          <p:nvPr/>
        </p:nvSpPr>
        <p:spPr>
          <a:xfrm>
            <a:off x="7543800" y="4789504"/>
            <a:ext cx="4069080"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rgbClr val="FFFFFF"/>
                </a:solidFill>
              </a:defRPr>
            </a:lvl1pPr>
          </a:lstStyle>
          <a:p>
            <a:pPr/>
            <a:r>
              <a:t>Final presentation</a:t>
            </a:r>
          </a:p>
        </p:txBody>
      </p:sp>
      <p:sp>
        <p:nvSpPr>
          <p:cNvPr id="219" name="Final presentation when"/>
          <p:cNvSpPr txBox="1"/>
          <p:nvPr/>
        </p:nvSpPr>
        <p:spPr>
          <a:xfrm>
            <a:off x="7543800" y="5190552"/>
            <a:ext cx="4069080"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chemeClr val="accent6"/>
                </a:solidFill>
              </a:defRPr>
            </a:lvl1pPr>
          </a:lstStyle>
          <a:p>
            <a:pPr/>
            <a:r>
              <a:t>Week of 19 Oct · he may come and speak</a:t>
            </a:r>
          </a:p>
        </p:txBody>
      </p:sp>
      <p:sp>
        <p:nvSpPr>
          <p:cNvPr id="220" name="Thanks"/>
          <p:cNvSpPr txBox="1"/>
          <p:nvPr/>
        </p:nvSpPr>
        <p:spPr>
          <a:xfrm>
            <a:off x="548639" y="5773509"/>
            <a:ext cx="11064242" cy="24874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rgbClr val="FFFFFF"/>
                </a:solidFill>
              </a:defRPr>
            </a:lvl1pPr>
          </a:lstStyle>
          <a:p>
            <a:pPr/>
            <a:r>
              <a:t>Thank you. We would love your feedback.</a:t>
            </a:r>
          </a:p>
        </p:txBody>
      </p:sp>
      <p:sp>
        <p:nvSpPr>
          <p:cNvPr id="221" name="Slide Number Placeholder 0"/>
          <p:cNvSpPr txBox="1"/>
          <p:nvPr>
            <p:ph type="sldNum" sz="quarter" idx="4294967295"/>
          </p:nvPr>
        </p:nvSpPr>
        <p:spPr>
          <a:xfrm>
            <a:off x="11437935" y="6355079"/>
            <a:ext cx="174946" cy="225709"/>
          </a:xfrm>
          <a:prstGeom prst="rect">
            <a:avLst/>
          </a:prstGeom>
          <a:extLst>
            <a:ext uri="{C572A759-6A51-4108-AA02-DFA0A04FC94B}">
              <ma14:wrappingTextBoxFlag xmlns:ma14="http://schemas.microsoft.com/office/mac/drawingml/2011/main" val="1"/>
            </a:ext>
          </a:extLst>
        </p:spPr>
        <p:txBody>
          <a:bodyPr/>
          <a:lstStyle>
            <a:lvl1pPr>
              <a:defRPr>
                <a:solidFill>
                  <a:srgbClr val="F2F0F6"/>
                </a:solidFill>
              </a:defRPr>
            </a:lvl1pPr>
          </a:lstStyle>
          <a:p>
            <a:pPr/>
            <a:fld id="{86CB4B4D-7CA3-9044-876B-883B54F8677D}" type="slidenum"/>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Staying in Touch">
  <a:themeElements>
    <a:clrScheme name="Staying in Touch">
      <a:dk1>
        <a:srgbClr val="1F1A24"/>
      </a:dk1>
      <a:lt1>
        <a:srgbClr val="2B2440"/>
      </a:lt1>
      <a:dk2>
        <a:srgbClr val="A7A7A7"/>
      </a:dk2>
      <a:lt2>
        <a:srgbClr val="535353"/>
      </a:lt2>
      <a:accent1>
        <a:srgbClr val="E4572E"/>
      </a:accent1>
      <a:accent2>
        <a:srgbClr val="17766B"/>
      </a:accent2>
      <a:accent3>
        <a:srgbClr val="B23A1C"/>
      </a:accent3>
      <a:accent4>
        <a:srgbClr val="F2A541"/>
      </a:accent4>
      <a:accent5>
        <a:srgbClr val="6B6478"/>
      </a:accent5>
      <a:accent6>
        <a:srgbClr val="DCD7E6"/>
      </a:accent6>
      <a:hlink>
        <a:srgbClr val="0000FF"/>
      </a:hlink>
      <a:folHlink>
        <a:srgbClr val="FF00FF"/>
      </a:folHlink>
    </a:clrScheme>
    <a:fontScheme name="Staying in Touch">
      <a:majorFont>
        <a:latin typeface="Calibri"/>
        <a:ea typeface="Calibri"/>
        <a:cs typeface="Calibri"/>
      </a:majorFont>
      <a:minorFont>
        <a:latin typeface="Helvetica"/>
        <a:ea typeface="Helvetica"/>
        <a:cs typeface="Helvetica"/>
      </a:minorFont>
    </a:fontScheme>
    <a:fmtScheme name="Staying in Touch">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F1A24"/>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F1A24"/>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Staying in Touch">
  <a:themeElements>
    <a:clrScheme name="Staying in Touch">
      <a:dk1>
        <a:srgbClr val="1F1A24"/>
      </a:dk1>
      <a:lt1>
        <a:srgbClr val="17240A"/>
      </a:lt1>
      <a:dk2>
        <a:srgbClr val="A7A7A7"/>
      </a:dk2>
      <a:lt2>
        <a:srgbClr val="535353"/>
      </a:lt2>
      <a:accent1>
        <a:srgbClr val="E4572E"/>
      </a:accent1>
      <a:accent2>
        <a:srgbClr val="17766B"/>
      </a:accent2>
      <a:accent3>
        <a:srgbClr val="B23A1C"/>
      </a:accent3>
      <a:accent4>
        <a:srgbClr val="F2A541"/>
      </a:accent4>
      <a:accent5>
        <a:srgbClr val="6B6478"/>
      </a:accent5>
      <a:accent6>
        <a:srgbClr val="DCD7E6"/>
      </a:accent6>
      <a:hlink>
        <a:srgbClr val="0000FF"/>
      </a:hlink>
      <a:folHlink>
        <a:srgbClr val="FF00FF"/>
      </a:folHlink>
    </a:clrScheme>
    <a:fontScheme name="Staying in Touch">
      <a:majorFont>
        <a:latin typeface="Calibri"/>
        <a:ea typeface="Calibri"/>
        <a:cs typeface="Calibri"/>
      </a:majorFont>
      <a:minorFont>
        <a:latin typeface="Helvetica"/>
        <a:ea typeface="Helvetica"/>
        <a:cs typeface="Helvetica"/>
      </a:minorFont>
    </a:fontScheme>
    <a:fmtScheme name="Staying in Touch">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F1A24"/>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F1A24"/>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